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t>9/15/2026</a:t>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Welcome everyone. This is our P1 project submission for the hackathon. Our project focuses on automating risk monitoring in clinical trials. I'll walk you through the problem, our solution, and the key features we have built.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Clinical trials need to follow strict safety protocols. Today, most trial monitoring is manual and reactive — issues are found too late. Our system aims to change that by providing real-time automated risk detection.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Our solution is a web-based platform that takes in clinical trial data, runs it through a rule-based detection engine, and surfaces risks and deviations on a real-time dashboard. The platform is designed for non-technical users — no SQL, no scripting needed.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These are the six core features of our platform. Real-time scoring and protocol deviation detection form the engine. The dashboard, alerts, configurable rules, and audit trail form the coordinator-facing interface.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Here is the end-to-end workflow. Data comes in, rules are applied, risk scores are calculated, alerts are generated, and coordinators see everything on their dashboard. The entire pipeline is automated — no manual checking needed.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We chose React for the frontend for its component model which suits a dashboard application well. The backend is Node/Express with a Python module handling the rule-based risk scoring logic. MongoDB is used for flexible document storage of trial data. Everything is containerised with Docker.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Here is the live demo of the application. Walk the judges through the dashboard — show a patient with a high-risk score, click on the deviation alert, and demonstrate the audit trail. Replace these screenshots with actual ones before presenting.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a:p>
        </p:txBody>
      </p:sp>
      <p:sp>
        <p:nvSpPr>
          <p:cNvPr id="3" name="Notes Placeholder 2"/>
          <p:cNvSpPr>
            <a:spLocks noGrp="1"/>
          </p:cNvSpPr>
          <p:nvPr>
            <p:ph type="body" idx="1"/>
          </p:nvPr>
        </p:nvSpPr>
        <p:spPr/>
        <p:txBody>
          <a:bodyPr/>
          <a:lstStyle/>
          <a:p>
            <a:r>
              <a:rPr lang="en-US"/>
              <a:t>To summarise: our platform addresses a critical unmet need in clinical research. In the short term it reduces coordinator burden and catches deviations early. In the future we plan to add ML-based prediction and direct integration with major CTMS platforms. Thank you — we are happy to take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p:cNvSpPr>
            <a:spLocks noGrp="1"/>
          </p:cNvSpPr>
          <p:nvPr>
            <p:ph type="ctrTitle"/>
          </p:nvPr>
        </p:nvSpPr>
        <p:spPr>
          <a:xfrm>
            <a:off x="685800" y="2130425"/>
            <a:ext cx="7772400" cy="1470025"/>
          </a:xfrm>
        </p:spPr>
        <p:txBody>
          <a:bodyPr/>
          <a:lstStyle/>
          <a:p>
            <a:endParaRPr lang="en-US"/>
          </a:p>
        </p:txBody>
      </p:sp>
      <p:sp>
        <p:nvSpPr>
          <p:cNvPr id="3" name="Subtitle"/>
          <p:cNvSpPr>
            <a:spLocks noGrp="1"/>
          </p:cNvSpPr>
          <p:nvPr>
            <p:ph type="subTitle" idx="1"/>
          </p:nvPr>
        </p:nvSpPr>
        <p:spPr>
          <a:xfrm>
            <a:off x="1371600" y="3886200"/>
            <a:ext cx="6400800" cy="1752600"/>
          </a:xfrm>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Tx">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p:cNvSpPr>
            <a:spLocks noGrp="1"/>
          </p:cNvSpPr>
          <p:nvPr>
            <p:ph type="body" idx="1"/>
          </p:nvPr>
        </p:nvSpPr>
        <p:spPr>
          <a:xfrm>
            <a:off x="838200" y="1825625"/>
            <a:ext cx="10515600" cy="4351338"/>
          </a:xfrm>
        </p:spPr>
        <p:txBody>
          <a:bodyPr/>
          <a:lstStyle/>
          <a:p>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
        <p:nvSpPr>
          <p:cNvPr id="3" name="Content Left"/>
          <p:cNvSpPr>
            <a:spLocks noGrp="1"/>
          </p:cNvSpPr>
          <p:nvPr>
            <p:ph type="body" idx="1"/>
          </p:nvPr>
        </p:nvSpPr>
        <p:spPr>
          <a:xfrm>
            <a:off x="838200" y="1825625"/>
            <a:ext cx="5181600" cy="4351338"/>
          </a:xfrm>
        </p:spPr>
        <p:txBody>
          <a:bodyPr/>
          <a:lstStyle/>
          <a:p>
            <a:endParaRPr lang="en-US"/>
          </a:p>
        </p:txBody>
      </p:sp>
      <p:sp>
        <p:nvSpPr>
          <p:cNvPr id="4" name="Content Right"/>
          <p:cNvSpPr>
            <a:spLocks noGrp="1"/>
          </p:cNvSpPr>
          <p:nvPr>
            <p:ph type="body" idx="2"/>
          </p:nvPr>
        </p:nvSpPr>
        <p:spPr>
          <a:xfrm>
            <a:off x="6172200" y="1825625"/>
            <a:ext cx="5181600" cy="4351338"/>
          </a:xfrm>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838200" y="365125"/>
            <a:ext cx="10515600" cy="1325563"/>
          </a:xfrm>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3A5C"/>
        </a:solidFill>
        <a:effectLst/>
      </p:bgPr>
    </p:bg>
    <p:spTree>
      <p:nvGrpSpPr>
        <p:cNvPr id="1" name=""/>
        <p:cNvGrpSpPr/>
        <p:nvPr/>
      </p:nvGrpSpPr>
      <p:grpSpPr>
        <a:xfrm>
          <a:off x="0" y="0"/>
          <a:ext cx="0" cy="0"/>
          <a:chOff x="0" y="0"/>
          <a:chExt cx="0" cy="0"/>
        </a:xfrm>
      </p:grpSpPr>
      <p:sp>
        <p:nvSpPr>
          <p:cNvPr id="100000" name="TopAccent"/>
          <p:cNvSpPr txBox="1"/>
          <p:nvPr/>
        </p:nvSpPr>
        <p:spPr>
          <a:xfrm>
            <a:off x="0" y="0"/>
            <a:ext cx="12193200" cy="180000"/>
          </a:xfrm>
          <a:prstGeom prst="rect">
            <a:avLst/>
          </a:prstGeom>
          <a:solidFill>
            <a:srgbClr val="2E86AB"/>
          </a:solidFill>
        </p:spPr>
        <p:txBody>
          <a:bodyPr/>
          <a:lstStyle/>
          <a:p>
            <a:endParaRPr lang="en-US" sz="1000">
              <a:solidFill>
                <a:srgbClr val="2E86AB"/>
              </a:solidFill>
            </a:endParaRPr>
          </a:p>
        </p:txBody>
      </p:sp>
      <p:sp>
        <p:nvSpPr>
          <p:cNvPr id="100001" name="BottomAccent"/>
          <p:cNvSpPr txBox="1"/>
          <p:nvPr/>
        </p:nvSpPr>
        <p:spPr>
          <a:xfrm>
            <a:off x="0" y="6660000"/>
            <a:ext cx="12193200" cy="180000"/>
          </a:xfrm>
          <a:prstGeom prst="rect">
            <a:avLst/>
          </a:prstGeom>
          <a:solidFill>
            <a:srgbClr val="2E86AB"/>
          </a:solidFill>
        </p:spPr>
        <p:txBody>
          <a:bodyPr/>
          <a:lstStyle/>
          <a:p>
            <a:endParaRPr lang="en-US" sz="1000">
              <a:solidFill>
                <a:srgbClr val="2E86AB"/>
              </a:solidFill>
            </a:endParaRPr>
          </a:p>
        </p:txBody>
      </p:sp>
      <p:sp>
        <p:nvSpPr>
          <p:cNvPr id="100002" name="HackathonBadge"/>
          <p:cNvSpPr txBox="1"/>
          <p:nvPr/>
        </p:nvSpPr>
        <p:spPr>
          <a:xfrm>
            <a:off x="3960000" y="792000"/>
            <a:ext cx="4320000" cy="288000"/>
          </a:xfrm>
          <a:prstGeom prst="rect">
            <a:avLst/>
          </a:prstGeom>
        </p:spPr>
        <p:txBody>
          <a:bodyPr/>
          <a:lstStyle/>
          <a:p>
            <a:pPr algn="ctr"/>
            <a:r>
              <a:rPr lang="en-US" sz="1300" b="1">
                <a:solidFill>
                  <a:srgbClr val="2E86AB"/>
                </a:solidFill>
              </a:rPr>
              <a:t>P1 PROJECT  ·  HACKATHON 2025</a:t>
            </a:r>
          </a:p>
        </p:txBody>
      </p:sp>
      <p:sp>
        <p:nvSpPr>
          <p:cNvPr id="100003" name="MainTitle"/>
          <p:cNvSpPr txBox="1"/>
          <p:nvPr/>
        </p:nvSpPr>
        <p:spPr>
          <a:xfrm>
            <a:off x="720000" y="1260000"/>
            <a:ext cx="10800000" cy="1620000"/>
          </a:xfrm>
          <a:prstGeom prst="rect">
            <a:avLst/>
          </a:prstGeom>
        </p:spPr>
        <p:txBody>
          <a:bodyPr/>
          <a:lstStyle/>
          <a:p>
            <a:pPr algn="ctr"/>
            <a:r>
              <a:rPr lang="en-US" sz="3800" b="1">
                <a:solidFill>
                  <a:srgbClr val="FFFFFF"/>
                </a:solidFill>
              </a:rPr>
              <a:t>Clinical Trial Risk Monitor</a:t>
            </a:r>
          </a:p>
          <a:p>
            <a:pPr algn="ctr"/>
            <a:r>
              <a:rPr lang="en-US" sz="3800" b="1">
                <a:solidFill>
                  <a:srgbClr val="FFFFFF"/>
                </a:solidFill>
              </a:rPr>
              <a:t>&amp; Protocol Deviation Detector</a:t>
            </a:r>
          </a:p>
        </p:txBody>
      </p:sp>
      <p:sp>
        <p:nvSpPr>
          <p:cNvPr id="100004" name="Subtitle"/>
          <p:cNvSpPr txBox="1"/>
          <p:nvPr/>
        </p:nvSpPr>
        <p:spPr>
          <a:xfrm>
            <a:off x="1080000" y="2988000"/>
            <a:ext cx="10080000" cy="432000"/>
          </a:xfrm>
          <a:prstGeom prst="rect">
            <a:avLst/>
          </a:prstGeom>
        </p:spPr>
        <p:txBody>
          <a:bodyPr/>
          <a:lstStyle/>
          <a:p>
            <a:pPr algn="ctr"/>
            <a:r>
              <a:rPr lang="en-US" sz="2200">
                <a:solidFill>
                  <a:srgbClr val="A8D5F0"/>
                </a:solidFill>
              </a:rPr>
              <a:t>Automating safety oversight in clinical research</a:t>
            </a:r>
          </a:p>
        </p:txBody>
      </p:sp>
      <p:sp>
        <p:nvSpPr>
          <p:cNvPr id="100005" name="Divider"/>
          <p:cNvSpPr txBox="1"/>
          <p:nvPr/>
        </p:nvSpPr>
        <p:spPr>
          <a:xfrm>
            <a:off x="1800000" y="3528000"/>
            <a:ext cx="8640000" cy="180000"/>
          </a:xfrm>
          <a:prstGeom prst="rect">
            <a:avLst/>
          </a:prstGeom>
        </p:spPr>
        <p:txBody>
          <a:bodyPr/>
          <a:lstStyle/>
          <a:p>
            <a:pPr algn="ctr"/>
            <a:r>
              <a:rPr lang="en-US" sz="1400">
                <a:solidFill>
                  <a:srgbClr val="2E86AB"/>
                </a:solidFill>
              </a:rPr>
              <a:t>──────────────────────────────</a:t>
            </a:r>
          </a:p>
        </p:txBody>
      </p:sp>
      <p:sp>
        <p:nvSpPr>
          <p:cNvPr id="100006" name="TeamLabel"/>
          <p:cNvSpPr txBox="1"/>
          <p:nvPr/>
        </p:nvSpPr>
        <p:spPr>
          <a:xfrm>
            <a:off x="1080000" y="3780000"/>
            <a:ext cx="10080000" cy="252000"/>
          </a:xfrm>
          <a:prstGeom prst="rect">
            <a:avLst/>
          </a:prstGeom>
        </p:spPr>
        <p:txBody>
          <a:bodyPr/>
          <a:lstStyle/>
          <a:p>
            <a:pPr algn="ctr"/>
            <a:r>
              <a:rPr lang="en-US" sz="1300" b="1">
                <a:solidFill>
                  <a:srgbClr val="2E86AB"/>
                </a:solidFill>
              </a:rPr>
              <a:t>TEAM</a:t>
            </a:r>
          </a:p>
        </p:txBody>
      </p:sp>
      <p:sp>
        <p:nvSpPr>
          <p:cNvPr id="100007" name="TeamMembers"/>
          <p:cNvSpPr txBox="1"/>
          <p:nvPr/>
        </p:nvSpPr>
        <p:spPr>
          <a:xfrm>
            <a:off x="720000" y="4104000"/>
            <a:ext cx="10800000" cy="288000"/>
          </a:xfrm>
          <a:prstGeom prst="rect">
            <a:avLst/>
          </a:prstGeom>
        </p:spPr>
        <p:txBody>
          <a:bodyPr/>
          <a:lstStyle/>
          <a:p>
            <a:pPr algn="ctr"/>
            <a:r>
              <a:rPr lang="en-US" sz="1600" dirty="0">
                <a:solidFill>
                  <a:srgbClr val="FFFFFF"/>
                </a:solidFill>
              </a:rPr>
              <a:t>[Team Member 1 –Research]    ·    [Team Member 2 – Solution]    ·    [Team Member 3 – PPT]</a:t>
            </a:r>
          </a:p>
        </p:txBody>
      </p:sp>
      <p:sp>
        <p:nvSpPr>
          <p:cNvPr id="100008" name="OrgInfo"/>
          <p:cNvSpPr txBox="1"/>
          <p:nvPr/>
        </p:nvSpPr>
        <p:spPr>
          <a:xfrm>
            <a:off x="1080000" y="4464000"/>
            <a:ext cx="10080000" cy="252000"/>
          </a:xfrm>
          <a:prstGeom prst="rect">
            <a:avLst/>
          </a:prstGeom>
        </p:spPr>
        <p:txBody>
          <a:bodyPr/>
          <a:lstStyle/>
          <a:p>
            <a:pPr algn="ctr"/>
            <a:r>
              <a:rPr lang="en-US" sz="1500" dirty="0">
                <a:solidFill>
                  <a:srgbClr val="A8D5F0"/>
                </a:solidFill>
              </a:rPr>
              <a:t>[Organization / </a:t>
            </a:r>
            <a:r>
              <a:rPr lang="en-US" sz="1500" dirty="0" err="1">
                <a:solidFill>
                  <a:srgbClr val="A8D5F0"/>
                </a:solidFill>
              </a:rPr>
              <a:t>Charusat</a:t>
            </a:r>
            <a:r>
              <a:rPr lang="en-US" sz="1500" dirty="0">
                <a:solidFill>
                  <a:srgbClr val="A8D5F0"/>
                </a:solidFill>
              </a:rPr>
              <a:t> University]</a:t>
            </a:r>
          </a:p>
        </p:txBody>
      </p:sp>
      <p:sp>
        <p:nvSpPr>
          <p:cNvPr id="100009" name="ContactInfo"/>
          <p:cNvSpPr txBox="1"/>
          <p:nvPr/>
        </p:nvSpPr>
        <p:spPr>
          <a:xfrm>
            <a:off x="1080000" y="4788000"/>
            <a:ext cx="10080000" cy="216000"/>
          </a:xfrm>
          <a:prstGeom prst="rect">
            <a:avLst/>
          </a:prstGeom>
        </p:spPr>
        <p:txBody>
          <a:bodyPr/>
          <a:lstStyle/>
          <a:p>
            <a:pPr algn="ctr"/>
            <a:r>
              <a:rPr lang="en-US" sz="1300" dirty="0">
                <a:solidFill>
                  <a:srgbClr val="7FBAD6"/>
                </a:solidFill>
              </a:rPr>
              <a:t>[contact@example.com]  ·  [GitHub / Demo Link]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10" name="Header"/>
          <p:cNvSpPr txBox="1"/>
          <p:nvPr/>
        </p:nvSpPr>
        <p:spPr>
          <a:xfrm>
            <a:off x="0" y="0"/>
            <a:ext cx="12193200" cy="504000"/>
          </a:xfrm>
          <a:prstGeom prst="rect">
            <a:avLst/>
          </a:prstGeom>
          <a:solidFill>
            <a:srgbClr val="1A3A5C"/>
          </a:solidFill>
        </p:spPr>
        <p:txBody>
          <a:bodyPr/>
          <a:lstStyle/>
          <a:p>
            <a:endParaRPr lang="en-US" sz="1000">
              <a:solidFill>
                <a:srgbClr val="1A3A5C"/>
              </a:solidFill>
            </a:endParaRPr>
          </a:p>
        </p:txBody>
      </p:sp>
      <p:sp>
        <p:nvSpPr>
          <p:cNvPr id="100011" name="SlideNum"/>
          <p:cNvSpPr txBox="1"/>
          <p:nvPr/>
        </p:nvSpPr>
        <p:spPr>
          <a:xfrm>
            <a:off x="10800000" y="108000"/>
            <a:ext cx="900000" cy="252000"/>
          </a:xfrm>
          <a:prstGeom prst="rect">
            <a:avLst/>
          </a:prstGeom>
        </p:spPr>
        <p:txBody>
          <a:bodyPr/>
          <a:lstStyle/>
          <a:p>
            <a:pPr algn="r"/>
            <a:r>
              <a:rPr lang="en-US" sz="1100">
                <a:solidFill>
                  <a:srgbClr val="7FBAD6"/>
                </a:solidFill>
              </a:rPr>
              <a:t>02</a:t>
            </a:r>
          </a:p>
        </p:txBody>
      </p:sp>
      <p:sp>
        <p:nvSpPr>
          <p:cNvPr id="100012" name="SlideTitle"/>
          <p:cNvSpPr txBox="1"/>
          <p:nvPr/>
        </p:nvSpPr>
        <p:spPr>
          <a:xfrm>
            <a:off x="540000" y="72000"/>
            <a:ext cx="10080000" cy="360000"/>
          </a:xfrm>
          <a:prstGeom prst="rect">
            <a:avLst/>
          </a:prstGeom>
        </p:spPr>
        <p:txBody>
          <a:bodyPr/>
          <a:lstStyle/>
          <a:p>
            <a:r>
              <a:rPr lang="en-US" sz="2600" b="1">
                <a:solidFill>
                  <a:srgbClr val="FFFFFF"/>
                </a:solidFill>
              </a:rPr>
              <a:t>Problem Statement</a:t>
            </a:r>
          </a:p>
        </p:txBody>
      </p:sp>
      <p:sp>
        <p:nvSpPr>
          <p:cNvPr id="100013" name="ContextHeading"/>
          <p:cNvSpPr txBox="1"/>
          <p:nvPr/>
        </p:nvSpPr>
        <p:spPr>
          <a:xfrm>
            <a:off x="540000" y="720000"/>
            <a:ext cx="10800000" cy="288000"/>
          </a:xfrm>
          <a:prstGeom prst="rect">
            <a:avLst/>
          </a:prstGeom>
        </p:spPr>
        <p:txBody>
          <a:bodyPr/>
          <a:lstStyle/>
          <a:p>
            <a:r>
              <a:rPr lang="en-US" sz="2000" b="1">
                <a:solidFill>
                  <a:srgbClr val="1A3A5C"/>
                </a:solidFill>
              </a:rPr>
              <a:t>The Challenge in Clinical Research</a:t>
            </a:r>
          </a:p>
        </p:txBody>
      </p:sp>
      <p:sp>
        <p:nvSpPr>
          <p:cNvPr id="100014" name="ContextText"/>
          <p:cNvSpPr txBox="1"/>
          <p:nvPr/>
        </p:nvSpPr>
        <p:spPr>
          <a:xfrm>
            <a:off x="540000" y="1044000"/>
            <a:ext cx="10800000" cy="540000"/>
          </a:xfrm>
          <a:prstGeom prst="rect">
            <a:avLst/>
          </a:prstGeom>
        </p:spPr>
        <p:txBody>
          <a:bodyPr/>
          <a:lstStyle/>
          <a:p>
            <a:r>
              <a:rPr lang="en-US" sz="1600">
                <a:solidFill>
                  <a:srgbClr val="333333"/>
                </a:solidFill>
              </a:rPr>
              <a:t>Clinical trials are the gold standard for testing new medicines and treatments. However, they involve enormous amounts of data, hundreds of patients, and strict safety rules — all of which must be tracked in real time.</a:t>
            </a:r>
          </a:p>
        </p:txBody>
      </p:sp>
      <p:sp>
        <p:nvSpPr>
          <p:cNvPr id="100015" name="Pain1"/>
          <p:cNvSpPr txBox="1"/>
          <p:nvPr/>
        </p:nvSpPr>
        <p:spPr>
          <a:xfrm>
            <a:off x="540000" y="1692000"/>
            <a:ext cx="5220000" cy="252000"/>
          </a:xfrm>
          <a:prstGeom prst="rect">
            <a:avLst/>
          </a:prstGeom>
        </p:spPr>
        <p:txBody>
          <a:bodyPr/>
          <a:lstStyle/>
          <a:p>
            <a:r>
              <a:rPr lang="en-US" sz="1700" b="1">
                <a:solidFill>
                  <a:srgbClr val="C0392B"/>
                </a:solidFill>
              </a:rPr>
              <a:t>⚠  Manual Review is Too Slow</a:t>
            </a:r>
          </a:p>
        </p:txBody>
      </p:sp>
      <p:sp>
        <p:nvSpPr>
          <p:cNvPr id="100016" name="Pain1Desc"/>
          <p:cNvSpPr txBox="1"/>
          <p:nvPr/>
        </p:nvSpPr>
        <p:spPr>
          <a:xfrm>
            <a:off x="540000" y="1980000"/>
            <a:ext cx="5220000" cy="648000"/>
          </a:xfrm>
          <a:prstGeom prst="rect">
            <a:avLst/>
          </a:prstGeom>
        </p:spPr>
        <p:txBody>
          <a:bodyPr/>
          <a:lstStyle/>
          <a:p>
            <a:r>
              <a:rPr lang="en-US" sz="1400">
                <a:solidFill>
                  <a:srgbClr val="444444"/>
                </a:solidFill>
              </a:rPr>
              <a:t>Coordinators review hundreds of data points manually. Errors and deviations are often found weeks after they occur, putting patients at risk.</a:t>
            </a:r>
          </a:p>
        </p:txBody>
      </p:sp>
      <p:sp>
        <p:nvSpPr>
          <p:cNvPr id="100017" name="Pain2"/>
          <p:cNvSpPr txBox="1"/>
          <p:nvPr/>
        </p:nvSpPr>
        <p:spPr>
          <a:xfrm>
            <a:off x="6300000" y="1692000"/>
            <a:ext cx="5220000" cy="252000"/>
          </a:xfrm>
          <a:prstGeom prst="rect">
            <a:avLst/>
          </a:prstGeom>
        </p:spPr>
        <p:txBody>
          <a:bodyPr/>
          <a:lstStyle/>
          <a:p>
            <a:r>
              <a:rPr lang="en-US" sz="1700" b="1">
                <a:solidFill>
                  <a:srgbClr val="C0392B"/>
                </a:solidFill>
              </a:rPr>
              <a:t>⚠  Protocol Deviations Go Undetected</a:t>
            </a:r>
          </a:p>
        </p:txBody>
      </p:sp>
      <p:sp>
        <p:nvSpPr>
          <p:cNvPr id="100018" name="Pain2Desc"/>
          <p:cNvSpPr txBox="1"/>
          <p:nvPr/>
        </p:nvSpPr>
        <p:spPr>
          <a:xfrm>
            <a:off x="6300000" y="1980000"/>
            <a:ext cx="5220000" cy="648000"/>
          </a:xfrm>
          <a:prstGeom prst="rect">
            <a:avLst/>
          </a:prstGeom>
        </p:spPr>
        <p:txBody>
          <a:bodyPr/>
          <a:lstStyle/>
          <a:p>
            <a:r>
              <a:rPr lang="en-US" sz="1400">
                <a:solidFill>
                  <a:srgbClr val="444444"/>
                </a:solidFill>
              </a:rPr>
              <a:t>When a patient's treatment strays from the approved protocol, it must be caught immediately. Current tools lack automated, rule-based deviation detection.</a:t>
            </a:r>
          </a:p>
        </p:txBody>
      </p:sp>
      <p:sp>
        <p:nvSpPr>
          <p:cNvPr id="100019" name="Pain3"/>
          <p:cNvSpPr txBox="1"/>
          <p:nvPr/>
        </p:nvSpPr>
        <p:spPr>
          <a:xfrm>
            <a:off x="540000" y="2772000"/>
            <a:ext cx="5220000" cy="252000"/>
          </a:xfrm>
          <a:prstGeom prst="rect">
            <a:avLst/>
          </a:prstGeom>
        </p:spPr>
        <p:txBody>
          <a:bodyPr/>
          <a:lstStyle/>
          <a:p>
            <a:r>
              <a:rPr lang="en-US" sz="1700" b="1">
                <a:solidFill>
                  <a:srgbClr val="C0392B"/>
                </a:solidFill>
              </a:rPr>
              <a:t>⚠  No Centralised Risk View</a:t>
            </a:r>
          </a:p>
        </p:txBody>
      </p:sp>
      <p:sp>
        <p:nvSpPr>
          <p:cNvPr id="100020" name="Pain3Desc"/>
          <p:cNvSpPr txBox="1"/>
          <p:nvPr/>
        </p:nvSpPr>
        <p:spPr>
          <a:xfrm>
            <a:off x="540000" y="3060000"/>
            <a:ext cx="5220000" cy="648000"/>
          </a:xfrm>
          <a:prstGeom prst="rect">
            <a:avLst/>
          </a:prstGeom>
        </p:spPr>
        <p:txBody>
          <a:bodyPr/>
          <a:lstStyle/>
          <a:p>
            <a:r>
              <a:rPr lang="en-US" sz="1400">
                <a:solidFill>
                  <a:srgbClr val="444444"/>
                </a:solidFill>
              </a:rPr>
              <a:t>Risk signals are scattered across spreadsheets, emails, and databases. There is no single dashboard giving an at-a-glance safety overview.</a:t>
            </a:r>
          </a:p>
        </p:txBody>
      </p:sp>
      <p:sp>
        <p:nvSpPr>
          <p:cNvPr id="100021" name="Pain4"/>
          <p:cNvSpPr txBox="1"/>
          <p:nvPr/>
        </p:nvSpPr>
        <p:spPr>
          <a:xfrm>
            <a:off x="6300000" y="2772000"/>
            <a:ext cx="5220000" cy="252000"/>
          </a:xfrm>
          <a:prstGeom prst="rect">
            <a:avLst/>
          </a:prstGeom>
        </p:spPr>
        <p:txBody>
          <a:bodyPr/>
          <a:lstStyle/>
          <a:p>
            <a:r>
              <a:rPr lang="en-US" sz="1700" b="1">
                <a:solidFill>
                  <a:srgbClr val="C0392B"/>
                </a:solidFill>
              </a:rPr>
              <a:t>⚠  High Regulatory Risk</a:t>
            </a:r>
          </a:p>
        </p:txBody>
      </p:sp>
      <p:sp>
        <p:nvSpPr>
          <p:cNvPr id="100022" name="Pain4Desc"/>
          <p:cNvSpPr txBox="1"/>
          <p:nvPr/>
        </p:nvSpPr>
        <p:spPr>
          <a:xfrm>
            <a:off x="6300000" y="3060000"/>
            <a:ext cx="5220000" cy="648000"/>
          </a:xfrm>
          <a:prstGeom prst="rect">
            <a:avLst/>
          </a:prstGeom>
        </p:spPr>
        <p:txBody>
          <a:bodyPr/>
          <a:lstStyle/>
          <a:p>
            <a:r>
              <a:rPr lang="en-US" sz="1400">
                <a:solidFill>
                  <a:srgbClr val="444444"/>
                </a:solidFill>
              </a:rPr>
              <a:t>Missed deviations can lead to regulatory violations, trial suspension, or harm to patients. The cost of non-compliance is enormous.</a:t>
            </a:r>
          </a:p>
        </p:txBody>
      </p:sp>
      <p:sp>
        <p:nvSpPr>
          <p:cNvPr id="100023" name="ImpactStat"/>
          <p:cNvSpPr txBox="1"/>
          <p:nvPr/>
        </p:nvSpPr>
        <p:spPr>
          <a:xfrm>
            <a:off x="540000" y="3960000"/>
            <a:ext cx="11113200" cy="432000"/>
          </a:xfrm>
          <a:prstGeom prst="rect">
            <a:avLst/>
          </a:prstGeom>
        </p:spPr>
        <p:txBody>
          <a:bodyPr/>
          <a:lstStyle/>
          <a:p>
            <a:pPr algn="ctr"/>
            <a:r>
              <a:rPr lang="en-US" sz="1500" b="0">
                <a:solidFill>
                  <a:srgbClr val="1A3A5C"/>
                </a:solidFill>
              </a:rPr>
              <a:t>"Over 50% of clinical trial delays are linked to data quality issues and protocol deviations."  — Industry Estimate</a:t>
            </a:r>
          </a:p>
        </p:txBody>
      </p:sp>
      <p:sp>
        <p:nvSpPr>
          <p:cNvPr id="100024" name="Footer"/>
          <p:cNvSpPr txBox="1"/>
          <p:nvPr/>
        </p:nvSpPr>
        <p:spPr>
          <a:xfrm>
            <a:off x="0" y="6660000"/>
            <a:ext cx="12193200" cy="180000"/>
          </a:xfrm>
          <a:prstGeom prst="rect">
            <a:avLst/>
          </a:prstGeom>
          <a:solidFill>
            <a:srgbClr val="1A3A5C"/>
          </a:solidFill>
        </p:spPr>
        <p:txBody>
          <a:bodyPr/>
          <a:lstStyle/>
          <a:p>
            <a:endParaRPr lang="en-US" sz="1000">
              <a:solidFill>
                <a:srgbClr val="1A3A5C"/>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25" name="Header"/>
          <p:cNvSpPr txBox="1"/>
          <p:nvPr/>
        </p:nvSpPr>
        <p:spPr>
          <a:xfrm>
            <a:off x="0" y="0"/>
            <a:ext cx="12193200" cy="504000"/>
          </a:xfrm>
          <a:prstGeom prst="rect">
            <a:avLst/>
          </a:prstGeom>
          <a:solidFill>
            <a:srgbClr val="1A3A5C"/>
          </a:solidFill>
        </p:spPr>
        <p:txBody>
          <a:bodyPr/>
          <a:lstStyle/>
          <a:p>
            <a:endParaRPr lang="en-US" sz="1000">
              <a:solidFill>
                <a:srgbClr val="1A3A5C"/>
              </a:solidFill>
            </a:endParaRPr>
          </a:p>
        </p:txBody>
      </p:sp>
      <p:sp>
        <p:nvSpPr>
          <p:cNvPr id="100026" name="SlideNum"/>
          <p:cNvSpPr txBox="1"/>
          <p:nvPr/>
        </p:nvSpPr>
        <p:spPr>
          <a:xfrm>
            <a:off x="10800000" y="108000"/>
            <a:ext cx="900000" cy="252000"/>
          </a:xfrm>
          <a:prstGeom prst="rect">
            <a:avLst/>
          </a:prstGeom>
        </p:spPr>
        <p:txBody>
          <a:bodyPr/>
          <a:lstStyle/>
          <a:p>
            <a:pPr algn="r"/>
            <a:r>
              <a:rPr lang="en-US" sz="1100">
                <a:solidFill>
                  <a:srgbClr val="7FBAD6"/>
                </a:solidFill>
              </a:rPr>
              <a:t>03</a:t>
            </a:r>
          </a:p>
        </p:txBody>
      </p:sp>
      <p:sp>
        <p:nvSpPr>
          <p:cNvPr id="100027" name="SlideTitle"/>
          <p:cNvSpPr txBox="1"/>
          <p:nvPr/>
        </p:nvSpPr>
        <p:spPr>
          <a:xfrm>
            <a:off x="540000" y="72000"/>
            <a:ext cx="10080000" cy="360000"/>
          </a:xfrm>
          <a:prstGeom prst="rect">
            <a:avLst/>
          </a:prstGeom>
        </p:spPr>
        <p:txBody>
          <a:bodyPr/>
          <a:lstStyle/>
          <a:p>
            <a:r>
              <a:rPr lang="en-US" sz="2600" b="1">
                <a:solidFill>
                  <a:srgbClr val="FFFFFF"/>
                </a:solidFill>
              </a:rPr>
              <a:t>Proposed Solution</a:t>
            </a:r>
          </a:p>
        </p:txBody>
      </p:sp>
      <p:sp>
        <p:nvSpPr>
          <p:cNvPr id="100028" name="SolTagline"/>
          <p:cNvSpPr txBox="1"/>
          <p:nvPr/>
        </p:nvSpPr>
        <p:spPr>
          <a:xfrm>
            <a:off x="540000" y="648000"/>
            <a:ext cx="10800000" cy="432000"/>
          </a:xfrm>
          <a:prstGeom prst="rect">
            <a:avLst/>
          </a:prstGeom>
        </p:spPr>
        <p:txBody>
          <a:bodyPr/>
          <a:lstStyle/>
          <a:p>
            <a:pPr algn="ctr"/>
            <a:r>
              <a:rPr lang="en-US" sz="1800">
                <a:solidFill>
                  <a:srgbClr val="1A3A5C"/>
                </a:solidFill>
              </a:rPr>
              <a:t>A web-based, real-time risk monitoring platform built specifically for clinical trial coordinators and safety officers.</a:t>
            </a:r>
          </a:p>
        </p:txBody>
      </p:sp>
      <p:sp>
        <p:nvSpPr>
          <p:cNvPr id="100029" name="Box1"/>
          <p:cNvSpPr txBox="1"/>
          <p:nvPr/>
        </p:nvSpPr>
        <p:spPr>
          <a:xfrm>
            <a:off x="540000" y="1188000"/>
            <a:ext cx="3420000" cy="2160000"/>
          </a:xfrm>
          <a:prstGeom prst="rect">
            <a:avLst/>
          </a:prstGeom>
          <a:solidFill>
            <a:srgbClr val="EBF5FB"/>
          </a:solidFill>
        </p:spPr>
        <p:txBody>
          <a:bodyPr/>
          <a:lstStyle/>
          <a:p>
            <a:endParaRPr lang="en-US" sz="1400">
              <a:solidFill>
                <a:srgbClr val="EBF5FB"/>
              </a:solidFill>
            </a:endParaRPr>
          </a:p>
        </p:txBody>
      </p:sp>
      <p:sp>
        <p:nvSpPr>
          <p:cNvPr id="100030" name="Box1Icon"/>
          <p:cNvSpPr txBox="1"/>
          <p:nvPr/>
        </p:nvSpPr>
        <p:spPr>
          <a:xfrm>
            <a:off x="1800000" y="1260000"/>
            <a:ext cx="1080000" cy="432000"/>
          </a:xfrm>
          <a:prstGeom prst="rect">
            <a:avLst/>
          </a:prstGeom>
        </p:spPr>
        <p:txBody>
          <a:bodyPr/>
          <a:lstStyle/>
          <a:p>
            <a:pPr algn="ctr"/>
            <a:r>
              <a:rPr lang="en-US" sz="3200">
                <a:solidFill>
                  <a:srgbClr val="1A3A5C"/>
                </a:solidFill>
              </a:rPr>
              <a:t>📋</a:t>
            </a:r>
          </a:p>
        </p:txBody>
      </p:sp>
      <p:sp>
        <p:nvSpPr>
          <p:cNvPr id="100031" name="Box1Title"/>
          <p:cNvSpPr txBox="1"/>
          <p:nvPr/>
        </p:nvSpPr>
        <p:spPr>
          <a:xfrm>
            <a:off x="612000" y="1764000"/>
            <a:ext cx="3240000" cy="252000"/>
          </a:xfrm>
          <a:prstGeom prst="rect">
            <a:avLst/>
          </a:prstGeom>
        </p:spPr>
        <p:txBody>
          <a:bodyPr/>
          <a:lstStyle/>
          <a:p>
            <a:pPr algn="ctr"/>
            <a:r>
              <a:rPr lang="en-US" sz="1700" b="1">
                <a:solidFill>
                  <a:srgbClr val="1A3A5C"/>
                </a:solidFill>
              </a:rPr>
              <a:t>Ingest Trial Data</a:t>
            </a:r>
          </a:p>
        </p:txBody>
      </p:sp>
      <p:sp>
        <p:nvSpPr>
          <p:cNvPr id="100032" name="Box1Text"/>
          <p:cNvSpPr txBox="1"/>
          <p:nvPr/>
        </p:nvSpPr>
        <p:spPr>
          <a:xfrm>
            <a:off x="612000" y="2052000"/>
            <a:ext cx="3240000" cy="540000"/>
          </a:xfrm>
          <a:prstGeom prst="rect">
            <a:avLst/>
          </a:prstGeom>
        </p:spPr>
        <p:txBody>
          <a:bodyPr/>
          <a:lstStyle/>
          <a:p>
            <a:pPr algn="ctr"/>
            <a:r>
              <a:rPr lang="en-US" sz="1300">
                <a:solidFill>
                  <a:srgbClr val="444444"/>
                </a:solidFill>
              </a:rPr>
              <a:t>Upload or connect patient records, lab results, and visit logs from your trial management system.</a:t>
            </a:r>
          </a:p>
        </p:txBody>
      </p:sp>
      <p:sp>
        <p:nvSpPr>
          <p:cNvPr id="100033" name="Arrow1"/>
          <p:cNvSpPr txBox="1"/>
          <p:nvPr/>
        </p:nvSpPr>
        <p:spPr>
          <a:xfrm>
            <a:off x="4068000" y="1980000"/>
            <a:ext cx="540000" cy="360000"/>
          </a:xfrm>
          <a:prstGeom prst="rect">
            <a:avLst/>
          </a:prstGeom>
        </p:spPr>
        <p:txBody>
          <a:bodyPr/>
          <a:lstStyle/>
          <a:p>
            <a:pPr algn="ctr"/>
            <a:r>
              <a:rPr lang="en-US" sz="2200" b="1">
                <a:solidFill>
                  <a:srgbClr val="2E86AB"/>
                </a:solidFill>
              </a:rPr>
              <a:t>▶</a:t>
            </a:r>
          </a:p>
        </p:txBody>
      </p:sp>
      <p:sp>
        <p:nvSpPr>
          <p:cNvPr id="100034" name="Box2"/>
          <p:cNvSpPr txBox="1"/>
          <p:nvPr/>
        </p:nvSpPr>
        <p:spPr>
          <a:xfrm>
            <a:off x="4680000" y="1188000"/>
            <a:ext cx="3420000" cy="2160000"/>
          </a:xfrm>
          <a:prstGeom prst="rect">
            <a:avLst/>
          </a:prstGeom>
          <a:solidFill>
            <a:srgbClr val="EBF5FB"/>
          </a:solidFill>
        </p:spPr>
        <p:txBody>
          <a:bodyPr/>
          <a:lstStyle/>
          <a:p>
            <a:endParaRPr lang="en-US" sz="1400">
              <a:solidFill>
                <a:srgbClr val="EBF5FB"/>
              </a:solidFill>
            </a:endParaRPr>
          </a:p>
        </p:txBody>
      </p:sp>
      <p:sp>
        <p:nvSpPr>
          <p:cNvPr id="100035" name="Box2Icon"/>
          <p:cNvSpPr txBox="1"/>
          <p:nvPr/>
        </p:nvSpPr>
        <p:spPr>
          <a:xfrm>
            <a:off x="5940000" y="1260000"/>
            <a:ext cx="1080000" cy="432000"/>
          </a:xfrm>
          <a:prstGeom prst="rect">
            <a:avLst/>
          </a:prstGeom>
        </p:spPr>
        <p:txBody>
          <a:bodyPr/>
          <a:lstStyle/>
          <a:p>
            <a:pPr algn="ctr"/>
            <a:r>
              <a:rPr lang="en-US" sz="3200">
                <a:solidFill>
                  <a:srgbClr val="1A3A5C"/>
                </a:solidFill>
              </a:rPr>
              <a:t>🔍</a:t>
            </a:r>
          </a:p>
        </p:txBody>
      </p:sp>
      <p:sp>
        <p:nvSpPr>
          <p:cNvPr id="100036" name="Box2Title"/>
          <p:cNvSpPr txBox="1"/>
          <p:nvPr/>
        </p:nvSpPr>
        <p:spPr>
          <a:xfrm>
            <a:off x="4752000" y="1764000"/>
            <a:ext cx="3240000" cy="252000"/>
          </a:xfrm>
          <a:prstGeom prst="rect">
            <a:avLst/>
          </a:prstGeom>
        </p:spPr>
        <p:txBody>
          <a:bodyPr/>
          <a:lstStyle/>
          <a:p>
            <a:pPr algn="ctr"/>
            <a:r>
              <a:rPr lang="en-US" sz="1700" b="1">
                <a:solidFill>
                  <a:srgbClr val="1A3A5C"/>
                </a:solidFill>
              </a:rPr>
              <a:t>Detect Risks &amp; Deviations</a:t>
            </a:r>
          </a:p>
        </p:txBody>
      </p:sp>
      <p:sp>
        <p:nvSpPr>
          <p:cNvPr id="100037" name="Box2Text"/>
          <p:cNvSpPr txBox="1"/>
          <p:nvPr/>
        </p:nvSpPr>
        <p:spPr>
          <a:xfrm>
            <a:off x="4752000" y="2052000"/>
            <a:ext cx="3240000" cy="540000"/>
          </a:xfrm>
          <a:prstGeom prst="rect">
            <a:avLst/>
          </a:prstGeom>
        </p:spPr>
        <p:txBody>
          <a:bodyPr/>
          <a:lstStyle/>
          <a:p>
            <a:pPr algn="ctr"/>
            <a:r>
              <a:rPr lang="en-US" sz="1300">
                <a:solidFill>
                  <a:srgbClr val="444444"/>
                </a:solidFill>
              </a:rPr>
              <a:t>Rule-based engine flags protocol deviations, adverse event trends, and out-of-range values automatically.</a:t>
            </a:r>
          </a:p>
        </p:txBody>
      </p:sp>
      <p:sp>
        <p:nvSpPr>
          <p:cNvPr id="100038" name="Arrow2"/>
          <p:cNvSpPr txBox="1"/>
          <p:nvPr/>
        </p:nvSpPr>
        <p:spPr>
          <a:xfrm>
            <a:off x="8208000" y="1980000"/>
            <a:ext cx="540000" cy="360000"/>
          </a:xfrm>
          <a:prstGeom prst="rect">
            <a:avLst/>
          </a:prstGeom>
        </p:spPr>
        <p:txBody>
          <a:bodyPr/>
          <a:lstStyle/>
          <a:p>
            <a:pPr algn="ctr"/>
            <a:r>
              <a:rPr lang="en-US" sz="2200" b="1">
                <a:solidFill>
                  <a:srgbClr val="2E86AB"/>
                </a:solidFill>
              </a:rPr>
              <a:t>▶</a:t>
            </a:r>
          </a:p>
        </p:txBody>
      </p:sp>
      <p:sp>
        <p:nvSpPr>
          <p:cNvPr id="100039" name="Box3"/>
          <p:cNvSpPr txBox="1"/>
          <p:nvPr/>
        </p:nvSpPr>
        <p:spPr>
          <a:xfrm>
            <a:off x="8820000" y="1188000"/>
            <a:ext cx="3240000" cy="2160000"/>
          </a:xfrm>
          <a:prstGeom prst="rect">
            <a:avLst/>
          </a:prstGeom>
          <a:solidFill>
            <a:srgbClr val="EBF5FB"/>
          </a:solidFill>
        </p:spPr>
        <p:txBody>
          <a:bodyPr/>
          <a:lstStyle/>
          <a:p>
            <a:endParaRPr lang="en-US" sz="1400">
              <a:solidFill>
                <a:srgbClr val="EBF5FB"/>
              </a:solidFill>
            </a:endParaRPr>
          </a:p>
        </p:txBody>
      </p:sp>
      <p:sp>
        <p:nvSpPr>
          <p:cNvPr id="100040" name="Box3Icon"/>
          <p:cNvSpPr txBox="1"/>
          <p:nvPr/>
        </p:nvSpPr>
        <p:spPr>
          <a:xfrm>
            <a:off x="10080000" y="1260000"/>
            <a:ext cx="1080000" cy="432000"/>
          </a:xfrm>
          <a:prstGeom prst="rect">
            <a:avLst/>
          </a:prstGeom>
        </p:spPr>
        <p:txBody>
          <a:bodyPr/>
          <a:lstStyle/>
          <a:p>
            <a:pPr algn="ctr"/>
            <a:r>
              <a:rPr lang="en-US" sz="3200">
                <a:solidFill>
                  <a:srgbClr val="1A3A5C"/>
                </a:solidFill>
              </a:rPr>
              <a:t>📊</a:t>
            </a:r>
          </a:p>
        </p:txBody>
      </p:sp>
      <p:sp>
        <p:nvSpPr>
          <p:cNvPr id="100041" name="Box3Title"/>
          <p:cNvSpPr txBox="1"/>
          <p:nvPr/>
        </p:nvSpPr>
        <p:spPr>
          <a:xfrm>
            <a:off x="8892000" y="1764000"/>
            <a:ext cx="3060000" cy="252000"/>
          </a:xfrm>
          <a:prstGeom prst="rect">
            <a:avLst/>
          </a:prstGeom>
        </p:spPr>
        <p:txBody>
          <a:bodyPr/>
          <a:lstStyle/>
          <a:p>
            <a:pPr algn="ctr"/>
            <a:r>
              <a:rPr lang="en-US" sz="1700" b="1">
                <a:solidFill>
                  <a:srgbClr val="1A3A5C"/>
                </a:solidFill>
              </a:rPr>
              <a:t>Alert &amp; Report</a:t>
            </a:r>
          </a:p>
        </p:txBody>
      </p:sp>
      <p:sp>
        <p:nvSpPr>
          <p:cNvPr id="100042" name="Box3Text"/>
          <p:cNvSpPr txBox="1"/>
          <p:nvPr/>
        </p:nvSpPr>
        <p:spPr>
          <a:xfrm>
            <a:off x="8892000" y="2052000"/>
            <a:ext cx="3060000" cy="540000"/>
          </a:xfrm>
          <a:prstGeom prst="rect">
            <a:avLst/>
          </a:prstGeom>
        </p:spPr>
        <p:txBody>
          <a:bodyPr/>
          <a:lstStyle/>
          <a:p>
            <a:pPr algn="ctr"/>
            <a:r>
              <a:rPr lang="en-US" sz="1300">
                <a:solidFill>
                  <a:srgbClr val="444444"/>
                </a:solidFill>
              </a:rPr>
              <a:t>Coordinators receive instant alerts and a centralised risk dashboard to act before problems escalate.</a:t>
            </a:r>
          </a:p>
        </p:txBody>
      </p:sp>
      <p:sp>
        <p:nvSpPr>
          <p:cNvPr id="100043" name="ValueProp"/>
          <p:cNvSpPr txBox="1"/>
          <p:nvPr/>
        </p:nvSpPr>
        <p:spPr>
          <a:xfrm>
            <a:off x="540000" y="3600000"/>
            <a:ext cx="11113200" cy="396000"/>
          </a:xfrm>
          <a:prstGeom prst="rect">
            <a:avLst/>
          </a:prstGeom>
        </p:spPr>
        <p:txBody>
          <a:bodyPr/>
          <a:lstStyle/>
          <a:p>
            <a:pPr algn="ctr"/>
            <a:r>
              <a:rPr lang="en-US" sz="1700" b="1">
                <a:solidFill>
                  <a:srgbClr val="1A3A5C"/>
                </a:solidFill>
              </a:rPr>
              <a:t>Our goal: Catch problems early, protect patients, and help trials stay on track — automatically.</a:t>
            </a:r>
          </a:p>
        </p:txBody>
      </p:sp>
      <p:sp>
        <p:nvSpPr>
          <p:cNvPr id="100044" name="Footer"/>
          <p:cNvSpPr txBox="1"/>
          <p:nvPr/>
        </p:nvSpPr>
        <p:spPr>
          <a:xfrm>
            <a:off x="0" y="6660000"/>
            <a:ext cx="12193200" cy="180000"/>
          </a:xfrm>
          <a:prstGeom prst="rect">
            <a:avLst/>
          </a:prstGeom>
          <a:solidFill>
            <a:srgbClr val="1A3A5C"/>
          </a:solidFill>
        </p:spPr>
        <p:txBody>
          <a:bodyPr/>
          <a:lstStyle/>
          <a:p>
            <a:endParaRPr lang="en-US" sz="1000">
              <a:solidFill>
                <a:srgbClr val="1A3A5C"/>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45" name="Header"/>
          <p:cNvSpPr txBox="1"/>
          <p:nvPr/>
        </p:nvSpPr>
        <p:spPr>
          <a:xfrm>
            <a:off x="0" y="0"/>
            <a:ext cx="12193200" cy="504000"/>
          </a:xfrm>
          <a:prstGeom prst="rect">
            <a:avLst/>
          </a:prstGeom>
          <a:solidFill>
            <a:srgbClr val="1A3A5C"/>
          </a:solidFill>
        </p:spPr>
        <p:txBody>
          <a:bodyPr/>
          <a:lstStyle/>
          <a:p>
            <a:endParaRPr lang="en-US" sz="1000">
              <a:solidFill>
                <a:srgbClr val="1A3A5C"/>
              </a:solidFill>
            </a:endParaRPr>
          </a:p>
        </p:txBody>
      </p:sp>
      <p:sp>
        <p:nvSpPr>
          <p:cNvPr id="100046" name="SlideNum"/>
          <p:cNvSpPr txBox="1"/>
          <p:nvPr/>
        </p:nvSpPr>
        <p:spPr>
          <a:xfrm>
            <a:off x="10800000" y="108000"/>
            <a:ext cx="900000" cy="252000"/>
          </a:xfrm>
          <a:prstGeom prst="rect">
            <a:avLst/>
          </a:prstGeom>
        </p:spPr>
        <p:txBody>
          <a:bodyPr/>
          <a:lstStyle/>
          <a:p>
            <a:pPr algn="r"/>
            <a:r>
              <a:rPr lang="en-US" sz="1100">
                <a:solidFill>
                  <a:srgbClr val="7FBAD6"/>
                </a:solidFill>
              </a:rPr>
              <a:t>04</a:t>
            </a:r>
          </a:p>
        </p:txBody>
      </p:sp>
      <p:sp>
        <p:nvSpPr>
          <p:cNvPr id="100047" name="SlideTitle"/>
          <p:cNvSpPr txBox="1"/>
          <p:nvPr/>
        </p:nvSpPr>
        <p:spPr>
          <a:xfrm>
            <a:off x="540000" y="72000"/>
            <a:ext cx="10080000" cy="360000"/>
          </a:xfrm>
          <a:prstGeom prst="rect">
            <a:avLst/>
          </a:prstGeom>
        </p:spPr>
        <p:txBody>
          <a:bodyPr/>
          <a:lstStyle/>
          <a:p>
            <a:r>
              <a:rPr lang="en-US" sz="2600" b="1">
                <a:solidFill>
                  <a:srgbClr val="FFFFFF"/>
                </a:solidFill>
              </a:rPr>
              <a:t>Key Features</a:t>
            </a:r>
          </a:p>
        </p:txBody>
      </p:sp>
      <p:sp>
        <p:nvSpPr>
          <p:cNvPr id="100048" name="F1Box"/>
          <p:cNvSpPr txBox="1"/>
          <p:nvPr/>
        </p:nvSpPr>
        <p:spPr>
          <a:xfrm>
            <a:off x="540000" y="648000"/>
            <a:ext cx="5400000" cy="1368000"/>
          </a:xfrm>
          <a:prstGeom prst="rect">
            <a:avLst/>
          </a:prstGeom>
          <a:solidFill>
            <a:srgbClr val="F0F7FF"/>
          </a:solidFill>
        </p:spPr>
        <p:txBody>
          <a:bodyPr/>
          <a:lstStyle/>
          <a:p>
            <a:endParaRPr lang="en-US" sz="1400">
              <a:solidFill>
                <a:srgbClr val="F0F7FF"/>
              </a:solidFill>
            </a:endParaRPr>
          </a:p>
        </p:txBody>
      </p:sp>
      <p:sp>
        <p:nvSpPr>
          <p:cNvPr id="100049" name="F1Title"/>
          <p:cNvSpPr txBox="1"/>
          <p:nvPr/>
        </p:nvSpPr>
        <p:spPr>
          <a:xfrm>
            <a:off x="720000" y="756000"/>
            <a:ext cx="5040000" cy="288000"/>
          </a:xfrm>
          <a:prstGeom prst="rect">
            <a:avLst/>
          </a:prstGeom>
        </p:spPr>
        <p:txBody>
          <a:bodyPr/>
          <a:lstStyle/>
          <a:p>
            <a:r>
              <a:rPr lang="en-US" sz="1800" b="1">
                <a:solidFill>
                  <a:srgbClr val="1A3A5C"/>
                </a:solidFill>
              </a:rPr>
              <a:t>🚨  Real-Time Risk Scoring</a:t>
            </a:r>
          </a:p>
        </p:txBody>
      </p:sp>
      <p:sp>
        <p:nvSpPr>
          <p:cNvPr id="100050" name="F1Text"/>
          <p:cNvSpPr txBox="1"/>
          <p:nvPr/>
        </p:nvSpPr>
        <p:spPr>
          <a:xfrm>
            <a:off x="720000" y="1080000"/>
            <a:ext cx="5040000" cy="540000"/>
          </a:xfrm>
          <a:prstGeom prst="rect">
            <a:avLst/>
          </a:prstGeom>
        </p:spPr>
        <p:txBody>
          <a:bodyPr/>
          <a:lstStyle/>
          <a:p>
            <a:r>
              <a:rPr lang="en-US" sz="1400">
                <a:solidFill>
                  <a:srgbClr val="444444"/>
                </a:solidFill>
              </a:rPr>
              <a:t>Each patient visit and data entry is scored for risk level (Low / Medium / High) using configurable rule thresholds.</a:t>
            </a:r>
          </a:p>
        </p:txBody>
      </p:sp>
      <p:sp>
        <p:nvSpPr>
          <p:cNvPr id="100051" name="F2Box"/>
          <p:cNvSpPr txBox="1"/>
          <p:nvPr/>
        </p:nvSpPr>
        <p:spPr>
          <a:xfrm>
            <a:off x="6300000" y="648000"/>
            <a:ext cx="5400000" cy="1368000"/>
          </a:xfrm>
          <a:prstGeom prst="rect">
            <a:avLst/>
          </a:prstGeom>
          <a:solidFill>
            <a:srgbClr val="F0F7FF"/>
          </a:solidFill>
        </p:spPr>
        <p:txBody>
          <a:bodyPr/>
          <a:lstStyle/>
          <a:p>
            <a:endParaRPr lang="en-US" sz="1400">
              <a:solidFill>
                <a:srgbClr val="F0F7FF"/>
              </a:solidFill>
            </a:endParaRPr>
          </a:p>
        </p:txBody>
      </p:sp>
      <p:sp>
        <p:nvSpPr>
          <p:cNvPr id="100052" name="F2Title"/>
          <p:cNvSpPr txBox="1"/>
          <p:nvPr/>
        </p:nvSpPr>
        <p:spPr>
          <a:xfrm>
            <a:off x="6480000" y="756000"/>
            <a:ext cx="5040000" cy="288000"/>
          </a:xfrm>
          <a:prstGeom prst="rect">
            <a:avLst/>
          </a:prstGeom>
        </p:spPr>
        <p:txBody>
          <a:bodyPr/>
          <a:lstStyle/>
          <a:p>
            <a:r>
              <a:rPr lang="en-US" sz="1800" b="1">
                <a:solidFill>
                  <a:srgbClr val="1A3A5C"/>
                </a:solidFill>
              </a:rPr>
              <a:t>📋  Protocol Deviation Detection</a:t>
            </a:r>
          </a:p>
        </p:txBody>
      </p:sp>
      <p:sp>
        <p:nvSpPr>
          <p:cNvPr id="100053" name="F2Text"/>
          <p:cNvSpPr txBox="1"/>
          <p:nvPr/>
        </p:nvSpPr>
        <p:spPr>
          <a:xfrm>
            <a:off x="6480000" y="1080000"/>
            <a:ext cx="5040000" cy="540000"/>
          </a:xfrm>
          <a:prstGeom prst="rect">
            <a:avLst/>
          </a:prstGeom>
        </p:spPr>
        <p:txBody>
          <a:bodyPr/>
          <a:lstStyle/>
          <a:p>
            <a:r>
              <a:rPr lang="en-US" sz="1400">
                <a:solidFill>
                  <a:srgbClr val="444444"/>
                </a:solidFill>
              </a:rPr>
              <a:t>Automatically flags when a patient's treatment deviates from the approved protocol — missed visits, wrong dosage, or out-of-window procedures.</a:t>
            </a:r>
          </a:p>
        </p:txBody>
      </p:sp>
      <p:sp>
        <p:nvSpPr>
          <p:cNvPr id="100054" name="F3Box"/>
          <p:cNvSpPr txBox="1"/>
          <p:nvPr/>
        </p:nvSpPr>
        <p:spPr>
          <a:xfrm>
            <a:off x="540000" y="2268000"/>
            <a:ext cx="5400000" cy="1368000"/>
          </a:xfrm>
          <a:prstGeom prst="rect">
            <a:avLst/>
          </a:prstGeom>
          <a:solidFill>
            <a:srgbClr val="F0F7FF"/>
          </a:solidFill>
        </p:spPr>
        <p:txBody>
          <a:bodyPr/>
          <a:lstStyle/>
          <a:p>
            <a:endParaRPr lang="en-US" sz="1400">
              <a:solidFill>
                <a:srgbClr val="F0F7FF"/>
              </a:solidFill>
            </a:endParaRPr>
          </a:p>
        </p:txBody>
      </p:sp>
      <p:sp>
        <p:nvSpPr>
          <p:cNvPr id="100055" name="F3Title"/>
          <p:cNvSpPr txBox="1"/>
          <p:nvPr/>
        </p:nvSpPr>
        <p:spPr>
          <a:xfrm>
            <a:off x="720000" y="2376000"/>
            <a:ext cx="5040000" cy="288000"/>
          </a:xfrm>
          <a:prstGeom prst="rect">
            <a:avLst/>
          </a:prstGeom>
        </p:spPr>
        <p:txBody>
          <a:bodyPr/>
          <a:lstStyle/>
          <a:p>
            <a:r>
              <a:rPr lang="en-US" sz="1800" b="1">
                <a:solidFill>
                  <a:srgbClr val="1A3A5C"/>
                </a:solidFill>
              </a:rPr>
              <a:t>📊  Centralised Risk Dashboard</a:t>
            </a:r>
          </a:p>
        </p:txBody>
      </p:sp>
      <p:sp>
        <p:nvSpPr>
          <p:cNvPr id="100056" name="F3Text"/>
          <p:cNvSpPr txBox="1"/>
          <p:nvPr/>
        </p:nvSpPr>
        <p:spPr>
          <a:xfrm>
            <a:off x="720000" y="2700000"/>
            <a:ext cx="5040000" cy="540000"/>
          </a:xfrm>
          <a:prstGeom prst="rect">
            <a:avLst/>
          </a:prstGeom>
        </p:spPr>
        <p:txBody>
          <a:bodyPr/>
          <a:lstStyle/>
          <a:p>
            <a:r>
              <a:rPr lang="en-US" sz="1400">
                <a:solidFill>
                  <a:srgbClr val="444444"/>
                </a:solidFill>
              </a:rPr>
              <a:t>A single-screen overview of all flagged risks, sorted by severity, with drill-down into individual patient records.</a:t>
            </a:r>
          </a:p>
        </p:txBody>
      </p:sp>
      <p:sp>
        <p:nvSpPr>
          <p:cNvPr id="100057" name="F4Box"/>
          <p:cNvSpPr txBox="1"/>
          <p:nvPr/>
        </p:nvSpPr>
        <p:spPr>
          <a:xfrm>
            <a:off x="6300000" y="2268000"/>
            <a:ext cx="5400000" cy="1368000"/>
          </a:xfrm>
          <a:prstGeom prst="rect">
            <a:avLst/>
          </a:prstGeom>
          <a:solidFill>
            <a:srgbClr val="F0F7FF"/>
          </a:solidFill>
        </p:spPr>
        <p:txBody>
          <a:bodyPr/>
          <a:lstStyle/>
          <a:p>
            <a:endParaRPr lang="en-US" sz="1400">
              <a:solidFill>
                <a:srgbClr val="F0F7FF"/>
              </a:solidFill>
            </a:endParaRPr>
          </a:p>
        </p:txBody>
      </p:sp>
      <p:sp>
        <p:nvSpPr>
          <p:cNvPr id="100058" name="F4Title"/>
          <p:cNvSpPr txBox="1"/>
          <p:nvPr/>
        </p:nvSpPr>
        <p:spPr>
          <a:xfrm>
            <a:off x="6480000" y="2376000"/>
            <a:ext cx="5040000" cy="288000"/>
          </a:xfrm>
          <a:prstGeom prst="rect">
            <a:avLst/>
          </a:prstGeom>
        </p:spPr>
        <p:txBody>
          <a:bodyPr/>
          <a:lstStyle/>
          <a:p>
            <a:r>
              <a:rPr lang="en-US" sz="1800" b="1">
                <a:solidFill>
                  <a:srgbClr val="1A3A5C"/>
                </a:solidFill>
              </a:rPr>
              <a:t>🔔  Instant Alert Notifications</a:t>
            </a:r>
          </a:p>
        </p:txBody>
      </p:sp>
      <p:sp>
        <p:nvSpPr>
          <p:cNvPr id="100059" name="F4Text"/>
          <p:cNvSpPr txBox="1"/>
          <p:nvPr/>
        </p:nvSpPr>
        <p:spPr>
          <a:xfrm>
            <a:off x="6480000" y="2700000"/>
            <a:ext cx="5040000" cy="540000"/>
          </a:xfrm>
          <a:prstGeom prst="rect">
            <a:avLst/>
          </a:prstGeom>
        </p:spPr>
        <p:txBody>
          <a:bodyPr/>
          <a:lstStyle/>
          <a:p>
            <a:r>
              <a:rPr lang="en-US" sz="1400">
                <a:solidFill>
                  <a:srgbClr val="444444"/>
                </a:solidFill>
              </a:rPr>
              <a:t>Coordinators receive on-screen and email alerts the moment a deviation or high-risk event is detected.</a:t>
            </a:r>
          </a:p>
        </p:txBody>
      </p:sp>
      <p:sp>
        <p:nvSpPr>
          <p:cNvPr id="100060" name="F5Box"/>
          <p:cNvSpPr txBox="1"/>
          <p:nvPr/>
        </p:nvSpPr>
        <p:spPr>
          <a:xfrm>
            <a:off x="540000" y="3888000"/>
            <a:ext cx="5400000" cy="1368000"/>
          </a:xfrm>
          <a:prstGeom prst="rect">
            <a:avLst/>
          </a:prstGeom>
          <a:solidFill>
            <a:srgbClr val="F0F7FF"/>
          </a:solidFill>
        </p:spPr>
        <p:txBody>
          <a:bodyPr/>
          <a:lstStyle/>
          <a:p>
            <a:endParaRPr lang="en-US" sz="1400">
              <a:solidFill>
                <a:srgbClr val="F0F7FF"/>
              </a:solidFill>
            </a:endParaRPr>
          </a:p>
        </p:txBody>
      </p:sp>
      <p:sp>
        <p:nvSpPr>
          <p:cNvPr id="100061" name="F5Title"/>
          <p:cNvSpPr txBox="1"/>
          <p:nvPr/>
        </p:nvSpPr>
        <p:spPr>
          <a:xfrm>
            <a:off x="720000" y="3996000"/>
            <a:ext cx="5040000" cy="288000"/>
          </a:xfrm>
          <a:prstGeom prst="rect">
            <a:avLst/>
          </a:prstGeom>
        </p:spPr>
        <p:txBody>
          <a:bodyPr/>
          <a:lstStyle/>
          <a:p>
            <a:r>
              <a:rPr lang="en-US" sz="1800" b="1">
                <a:solidFill>
                  <a:srgbClr val="1A3A5C"/>
                </a:solidFill>
              </a:rPr>
              <a:t>⚙️  Configurable Rules Engine</a:t>
            </a:r>
          </a:p>
        </p:txBody>
      </p:sp>
      <p:sp>
        <p:nvSpPr>
          <p:cNvPr id="100062" name="F5Text"/>
          <p:cNvSpPr txBox="1"/>
          <p:nvPr/>
        </p:nvSpPr>
        <p:spPr>
          <a:xfrm>
            <a:off x="720000" y="4320000"/>
            <a:ext cx="5040000" cy="540000"/>
          </a:xfrm>
          <a:prstGeom prst="rect">
            <a:avLst/>
          </a:prstGeom>
        </p:spPr>
        <p:txBody>
          <a:bodyPr/>
          <a:lstStyle/>
          <a:p>
            <a:r>
              <a:rPr lang="en-US" sz="1400">
                <a:solidFill>
                  <a:srgbClr val="444444"/>
                </a:solidFill>
              </a:rPr>
              <a:t>Study coordinators can define custom rules and thresholds specific to each trial protocol without any coding.</a:t>
            </a:r>
          </a:p>
        </p:txBody>
      </p:sp>
      <p:sp>
        <p:nvSpPr>
          <p:cNvPr id="100063" name="F6Box"/>
          <p:cNvSpPr txBox="1"/>
          <p:nvPr/>
        </p:nvSpPr>
        <p:spPr>
          <a:xfrm>
            <a:off x="6300000" y="3888000"/>
            <a:ext cx="5400000" cy="1368000"/>
          </a:xfrm>
          <a:prstGeom prst="rect">
            <a:avLst/>
          </a:prstGeom>
          <a:solidFill>
            <a:srgbClr val="F0F7FF"/>
          </a:solidFill>
        </p:spPr>
        <p:txBody>
          <a:bodyPr/>
          <a:lstStyle/>
          <a:p>
            <a:endParaRPr lang="en-US" sz="1400">
              <a:solidFill>
                <a:srgbClr val="F0F7FF"/>
              </a:solidFill>
            </a:endParaRPr>
          </a:p>
        </p:txBody>
      </p:sp>
      <p:sp>
        <p:nvSpPr>
          <p:cNvPr id="100064" name="F6Title"/>
          <p:cNvSpPr txBox="1"/>
          <p:nvPr/>
        </p:nvSpPr>
        <p:spPr>
          <a:xfrm>
            <a:off x="6480000" y="3996000"/>
            <a:ext cx="5040000" cy="288000"/>
          </a:xfrm>
          <a:prstGeom prst="rect">
            <a:avLst/>
          </a:prstGeom>
        </p:spPr>
        <p:txBody>
          <a:bodyPr/>
          <a:lstStyle/>
          <a:p>
            <a:r>
              <a:rPr lang="en-US" sz="1800" b="1">
                <a:solidFill>
                  <a:srgbClr val="1A3A5C"/>
                </a:solidFill>
              </a:rPr>
              <a:t>📁  Audit Trail &amp; Reports</a:t>
            </a:r>
          </a:p>
        </p:txBody>
      </p:sp>
      <p:sp>
        <p:nvSpPr>
          <p:cNvPr id="100065" name="F6Text"/>
          <p:cNvSpPr txBox="1"/>
          <p:nvPr/>
        </p:nvSpPr>
        <p:spPr>
          <a:xfrm>
            <a:off x="6480000" y="4320000"/>
            <a:ext cx="5040000" cy="540000"/>
          </a:xfrm>
          <a:prstGeom prst="rect">
            <a:avLst/>
          </a:prstGeom>
        </p:spPr>
        <p:txBody>
          <a:bodyPr/>
          <a:lstStyle/>
          <a:p>
            <a:r>
              <a:rPr lang="en-US" sz="1400">
                <a:solidFill>
                  <a:srgbClr val="444444"/>
                </a:solidFill>
              </a:rPr>
              <a:t>Every detected risk, alert, and coordinator action is logged automatically to support regulatory audits.</a:t>
            </a:r>
          </a:p>
        </p:txBody>
      </p:sp>
      <p:sp>
        <p:nvSpPr>
          <p:cNvPr id="100066" name="Footer"/>
          <p:cNvSpPr txBox="1"/>
          <p:nvPr/>
        </p:nvSpPr>
        <p:spPr>
          <a:xfrm>
            <a:off x="0" y="6660000"/>
            <a:ext cx="12193200" cy="180000"/>
          </a:xfrm>
          <a:prstGeom prst="rect">
            <a:avLst/>
          </a:prstGeom>
          <a:solidFill>
            <a:srgbClr val="1A3A5C"/>
          </a:solidFill>
        </p:spPr>
        <p:txBody>
          <a:bodyPr/>
          <a:lstStyle/>
          <a:p>
            <a:endParaRPr lang="en-US" sz="1000">
              <a:solidFill>
                <a:srgbClr val="1A3A5C"/>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67" name="Header"/>
          <p:cNvSpPr txBox="1"/>
          <p:nvPr/>
        </p:nvSpPr>
        <p:spPr>
          <a:xfrm>
            <a:off x="0" y="0"/>
            <a:ext cx="12193200" cy="504000"/>
          </a:xfrm>
          <a:prstGeom prst="rect">
            <a:avLst/>
          </a:prstGeom>
          <a:solidFill>
            <a:srgbClr val="1A3A5C"/>
          </a:solidFill>
        </p:spPr>
        <p:txBody>
          <a:bodyPr/>
          <a:lstStyle/>
          <a:p>
            <a:endParaRPr lang="en-US" sz="1000">
              <a:solidFill>
                <a:srgbClr val="1A3A5C"/>
              </a:solidFill>
            </a:endParaRPr>
          </a:p>
        </p:txBody>
      </p:sp>
      <p:sp>
        <p:nvSpPr>
          <p:cNvPr id="100068" name="SlideNum"/>
          <p:cNvSpPr txBox="1"/>
          <p:nvPr/>
        </p:nvSpPr>
        <p:spPr>
          <a:xfrm>
            <a:off x="10800000" y="108000"/>
            <a:ext cx="900000" cy="252000"/>
          </a:xfrm>
          <a:prstGeom prst="rect">
            <a:avLst/>
          </a:prstGeom>
        </p:spPr>
        <p:txBody>
          <a:bodyPr/>
          <a:lstStyle/>
          <a:p>
            <a:pPr algn="r"/>
            <a:r>
              <a:rPr lang="en-US" sz="1100">
                <a:solidFill>
                  <a:srgbClr val="7FBAD6"/>
                </a:solidFill>
              </a:rPr>
              <a:t>05</a:t>
            </a:r>
          </a:p>
        </p:txBody>
      </p:sp>
      <p:sp>
        <p:nvSpPr>
          <p:cNvPr id="100069" name="SlideTitle"/>
          <p:cNvSpPr txBox="1"/>
          <p:nvPr/>
        </p:nvSpPr>
        <p:spPr>
          <a:xfrm>
            <a:off x="540000" y="72000"/>
            <a:ext cx="10080000" cy="360000"/>
          </a:xfrm>
          <a:prstGeom prst="rect">
            <a:avLst/>
          </a:prstGeom>
        </p:spPr>
        <p:txBody>
          <a:bodyPr/>
          <a:lstStyle/>
          <a:p>
            <a:r>
              <a:rPr lang="en-US" sz="2600" b="1">
                <a:solidFill>
                  <a:srgbClr val="FFFFFF"/>
                </a:solidFill>
              </a:rPr>
              <a:t>How the System Works</a:t>
            </a:r>
          </a:p>
        </p:txBody>
      </p:sp>
      <p:sp>
        <p:nvSpPr>
          <p:cNvPr id="100070" name="Intro"/>
          <p:cNvSpPr txBox="1"/>
          <p:nvPr/>
        </p:nvSpPr>
        <p:spPr>
          <a:xfrm>
            <a:off x="540000" y="648000"/>
            <a:ext cx="10800000" cy="288000"/>
          </a:xfrm>
          <a:prstGeom prst="rect">
            <a:avLst/>
          </a:prstGeom>
        </p:spPr>
        <p:txBody>
          <a:bodyPr/>
          <a:lstStyle/>
          <a:p>
            <a:pPr algn="ctr"/>
            <a:r>
              <a:rPr lang="en-US" sz="1600">
                <a:solidFill>
                  <a:srgbClr val="555555"/>
                </a:solidFill>
              </a:rPr>
              <a:t>A simple, 5-step workflow from data input to action — understandable by anyone on the trial team.</a:t>
            </a:r>
          </a:p>
        </p:txBody>
      </p:sp>
      <p:sp>
        <p:nvSpPr>
          <p:cNvPr id="100071" name="Step1Box"/>
          <p:cNvSpPr txBox="1"/>
          <p:nvPr/>
        </p:nvSpPr>
        <p:spPr>
          <a:xfrm>
            <a:off x="360000" y="1080000"/>
            <a:ext cx="1980000" cy="2160000"/>
          </a:xfrm>
          <a:prstGeom prst="rect">
            <a:avLst/>
          </a:prstGeom>
          <a:solidFill>
            <a:srgbClr val="1A3A5C"/>
          </a:solidFill>
        </p:spPr>
        <p:txBody>
          <a:bodyPr/>
          <a:lstStyle/>
          <a:p>
            <a:endParaRPr lang="en-US" sz="1200">
              <a:solidFill>
                <a:srgbClr val="1A3A5C"/>
              </a:solidFill>
            </a:endParaRPr>
          </a:p>
        </p:txBody>
      </p:sp>
      <p:sp>
        <p:nvSpPr>
          <p:cNvPr id="100072" name="Step1Num"/>
          <p:cNvSpPr txBox="1"/>
          <p:nvPr/>
        </p:nvSpPr>
        <p:spPr>
          <a:xfrm>
            <a:off x="360000" y="1152000"/>
            <a:ext cx="1980000" cy="360000"/>
          </a:xfrm>
          <a:prstGeom prst="rect">
            <a:avLst/>
          </a:prstGeom>
        </p:spPr>
        <p:txBody>
          <a:bodyPr/>
          <a:lstStyle/>
          <a:p>
            <a:pPr algn="ctr"/>
            <a:r>
              <a:rPr lang="en-US" sz="2800" b="1">
                <a:solidFill>
                  <a:srgbClr val="2E86AB"/>
                </a:solidFill>
              </a:rPr>
              <a:t>1</a:t>
            </a:r>
          </a:p>
        </p:txBody>
      </p:sp>
      <p:sp>
        <p:nvSpPr>
          <p:cNvPr id="100073" name="Step1Title"/>
          <p:cNvSpPr txBox="1"/>
          <p:nvPr/>
        </p:nvSpPr>
        <p:spPr>
          <a:xfrm>
            <a:off x="360000" y="1548000"/>
            <a:ext cx="1980000" cy="360000"/>
          </a:xfrm>
          <a:prstGeom prst="rect">
            <a:avLst/>
          </a:prstGeom>
        </p:spPr>
        <p:txBody>
          <a:bodyPr/>
          <a:lstStyle/>
          <a:p>
            <a:pPr algn="ctr"/>
            <a:r>
              <a:rPr lang="en-US" sz="1600" b="1">
                <a:solidFill>
                  <a:srgbClr val="FFFFFF"/>
                </a:solidFill>
              </a:rPr>
              <a:t>Data</a:t>
            </a:r>
          </a:p>
          <a:p>
            <a:pPr algn="ctr"/>
            <a:r>
              <a:rPr lang="en-US" sz="1600" b="1">
                <a:solidFill>
                  <a:srgbClr val="FFFFFF"/>
                </a:solidFill>
              </a:rPr>
              <a:t>Ingestion</a:t>
            </a:r>
          </a:p>
        </p:txBody>
      </p:sp>
      <p:sp>
        <p:nvSpPr>
          <p:cNvPr id="100074" name="Step1Text"/>
          <p:cNvSpPr txBox="1"/>
          <p:nvPr/>
        </p:nvSpPr>
        <p:spPr>
          <a:xfrm>
            <a:off x="360000" y="1980000"/>
            <a:ext cx="1980000" cy="720000"/>
          </a:xfrm>
          <a:prstGeom prst="rect">
            <a:avLst/>
          </a:prstGeom>
        </p:spPr>
        <p:txBody>
          <a:bodyPr/>
          <a:lstStyle/>
          <a:p>
            <a:pPr algn="ctr"/>
            <a:r>
              <a:rPr lang="en-US" sz="1200">
                <a:solidFill>
                  <a:srgbClr val="A8D5F0"/>
                </a:solidFill>
              </a:rPr>
              <a:t>Trial data (CSV / API / form) is uploaded into the system.</a:t>
            </a:r>
          </a:p>
        </p:txBody>
      </p:sp>
      <p:sp>
        <p:nvSpPr>
          <p:cNvPr id="100075" name="Arr1"/>
          <p:cNvSpPr txBox="1"/>
          <p:nvPr/>
        </p:nvSpPr>
        <p:spPr>
          <a:xfrm>
            <a:off x="2448000" y="1980000"/>
            <a:ext cx="360000" cy="360000"/>
          </a:xfrm>
          <a:prstGeom prst="rect">
            <a:avLst/>
          </a:prstGeom>
        </p:spPr>
        <p:txBody>
          <a:bodyPr/>
          <a:lstStyle/>
          <a:p>
            <a:pPr algn="ctr"/>
            <a:r>
              <a:rPr lang="en-US" sz="1800" b="1">
                <a:solidFill>
                  <a:srgbClr val="2E86AB"/>
                </a:solidFill>
              </a:rPr>
              <a:t>▶</a:t>
            </a:r>
          </a:p>
        </p:txBody>
      </p:sp>
      <p:sp>
        <p:nvSpPr>
          <p:cNvPr id="100076" name="Step2Box"/>
          <p:cNvSpPr txBox="1"/>
          <p:nvPr/>
        </p:nvSpPr>
        <p:spPr>
          <a:xfrm>
            <a:off x="2880000" y="1080000"/>
            <a:ext cx="1980000" cy="2160000"/>
          </a:xfrm>
          <a:prstGeom prst="rect">
            <a:avLst/>
          </a:prstGeom>
          <a:solidFill>
            <a:srgbClr val="1A3A5C"/>
          </a:solidFill>
        </p:spPr>
        <p:txBody>
          <a:bodyPr/>
          <a:lstStyle/>
          <a:p>
            <a:endParaRPr lang="en-US" sz="1200">
              <a:solidFill>
                <a:srgbClr val="1A3A5C"/>
              </a:solidFill>
            </a:endParaRPr>
          </a:p>
        </p:txBody>
      </p:sp>
      <p:sp>
        <p:nvSpPr>
          <p:cNvPr id="100077" name="Step2Num"/>
          <p:cNvSpPr txBox="1"/>
          <p:nvPr/>
        </p:nvSpPr>
        <p:spPr>
          <a:xfrm>
            <a:off x="2880000" y="1152000"/>
            <a:ext cx="1980000" cy="360000"/>
          </a:xfrm>
          <a:prstGeom prst="rect">
            <a:avLst/>
          </a:prstGeom>
        </p:spPr>
        <p:txBody>
          <a:bodyPr/>
          <a:lstStyle/>
          <a:p>
            <a:pPr algn="ctr"/>
            <a:r>
              <a:rPr lang="en-US" sz="2800" b="1">
                <a:solidFill>
                  <a:srgbClr val="2E86AB"/>
                </a:solidFill>
              </a:rPr>
              <a:t>2</a:t>
            </a:r>
          </a:p>
        </p:txBody>
      </p:sp>
      <p:sp>
        <p:nvSpPr>
          <p:cNvPr id="100078" name="Step2Title"/>
          <p:cNvSpPr txBox="1"/>
          <p:nvPr/>
        </p:nvSpPr>
        <p:spPr>
          <a:xfrm>
            <a:off x="2880000" y="1548000"/>
            <a:ext cx="1980000" cy="360000"/>
          </a:xfrm>
          <a:prstGeom prst="rect">
            <a:avLst/>
          </a:prstGeom>
        </p:spPr>
        <p:txBody>
          <a:bodyPr/>
          <a:lstStyle/>
          <a:p>
            <a:pPr algn="ctr"/>
            <a:r>
              <a:rPr lang="en-US" sz="1600" b="1">
                <a:solidFill>
                  <a:srgbClr val="FFFFFF"/>
                </a:solidFill>
              </a:rPr>
              <a:t>Rule</a:t>
            </a:r>
          </a:p>
          <a:p>
            <a:pPr algn="ctr"/>
            <a:r>
              <a:rPr lang="en-US" sz="1600" b="1">
                <a:solidFill>
                  <a:srgbClr val="FFFFFF"/>
                </a:solidFill>
              </a:rPr>
              <a:t>Evaluation</a:t>
            </a:r>
          </a:p>
        </p:txBody>
      </p:sp>
      <p:sp>
        <p:nvSpPr>
          <p:cNvPr id="100079" name="Step2Text"/>
          <p:cNvSpPr txBox="1"/>
          <p:nvPr/>
        </p:nvSpPr>
        <p:spPr>
          <a:xfrm>
            <a:off x="2880000" y="1980000"/>
            <a:ext cx="1980000" cy="720000"/>
          </a:xfrm>
          <a:prstGeom prst="rect">
            <a:avLst/>
          </a:prstGeom>
        </p:spPr>
        <p:txBody>
          <a:bodyPr/>
          <a:lstStyle/>
          <a:p>
            <a:pPr algn="ctr"/>
            <a:r>
              <a:rPr lang="en-US" sz="1200">
                <a:solidFill>
                  <a:srgbClr val="A8D5F0"/>
                </a:solidFill>
              </a:rPr>
              <a:t>Each record is checked against the configured protocol rules.</a:t>
            </a:r>
          </a:p>
        </p:txBody>
      </p:sp>
      <p:sp>
        <p:nvSpPr>
          <p:cNvPr id="100080" name="Arr2"/>
          <p:cNvSpPr txBox="1"/>
          <p:nvPr/>
        </p:nvSpPr>
        <p:spPr>
          <a:xfrm>
            <a:off x="4968000" y="1980000"/>
            <a:ext cx="360000" cy="360000"/>
          </a:xfrm>
          <a:prstGeom prst="rect">
            <a:avLst/>
          </a:prstGeom>
        </p:spPr>
        <p:txBody>
          <a:bodyPr/>
          <a:lstStyle/>
          <a:p>
            <a:pPr algn="ctr"/>
            <a:r>
              <a:rPr lang="en-US" sz="1800" b="1">
                <a:solidFill>
                  <a:srgbClr val="2E86AB"/>
                </a:solidFill>
              </a:rPr>
              <a:t>▶</a:t>
            </a:r>
          </a:p>
        </p:txBody>
      </p:sp>
      <p:sp>
        <p:nvSpPr>
          <p:cNvPr id="100081" name="Step3Box"/>
          <p:cNvSpPr txBox="1"/>
          <p:nvPr/>
        </p:nvSpPr>
        <p:spPr>
          <a:xfrm>
            <a:off x="5400000" y="1080000"/>
            <a:ext cx="1980000" cy="2160000"/>
          </a:xfrm>
          <a:prstGeom prst="rect">
            <a:avLst/>
          </a:prstGeom>
          <a:solidFill>
            <a:srgbClr val="1A3A5C"/>
          </a:solidFill>
        </p:spPr>
        <p:txBody>
          <a:bodyPr/>
          <a:lstStyle/>
          <a:p>
            <a:endParaRPr lang="en-US" sz="1200">
              <a:solidFill>
                <a:srgbClr val="1A3A5C"/>
              </a:solidFill>
            </a:endParaRPr>
          </a:p>
        </p:txBody>
      </p:sp>
      <p:sp>
        <p:nvSpPr>
          <p:cNvPr id="100082" name="Step3Num"/>
          <p:cNvSpPr txBox="1"/>
          <p:nvPr/>
        </p:nvSpPr>
        <p:spPr>
          <a:xfrm>
            <a:off x="5400000" y="1152000"/>
            <a:ext cx="1980000" cy="360000"/>
          </a:xfrm>
          <a:prstGeom prst="rect">
            <a:avLst/>
          </a:prstGeom>
        </p:spPr>
        <p:txBody>
          <a:bodyPr/>
          <a:lstStyle/>
          <a:p>
            <a:pPr algn="ctr"/>
            <a:r>
              <a:rPr lang="en-US" sz="2800" b="1">
                <a:solidFill>
                  <a:srgbClr val="2E86AB"/>
                </a:solidFill>
              </a:rPr>
              <a:t>3</a:t>
            </a:r>
          </a:p>
        </p:txBody>
      </p:sp>
      <p:sp>
        <p:nvSpPr>
          <p:cNvPr id="100083" name="Step3Title"/>
          <p:cNvSpPr txBox="1"/>
          <p:nvPr/>
        </p:nvSpPr>
        <p:spPr>
          <a:xfrm>
            <a:off x="5400000" y="1548000"/>
            <a:ext cx="1980000" cy="360000"/>
          </a:xfrm>
          <a:prstGeom prst="rect">
            <a:avLst/>
          </a:prstGeom>
        </p:spPr>
        <p:txBody>
          <a:bodyPr/>
          <a:lstStyle/>
          <a:p>
            <a:pPr algn="ctr"/>
            <a:r>
              <a:rPr lang="en-US" sz="1600" b="1">
                <a:solidFill>
                  <a:srgbClr val="FFFFFF"/>
                </a:solidFill>
              </a:rPr>
              <a:t>Risk</a:t>
            </a:r>
          </a:p>
          <a:p>
            <a:pPr algn="ctr"/>
            <a:r>
              <a:rPr lang="en-US" sz="1600" b="1">
                <a:solidFill>
                  <a:srgbClr val="FFFFFF"/>
                </a:solidFill>
              </a:rPr>
              <a:t>Scoring</a:t>
            </a:r>
          </a:p>
        </p:txBody>
      </p:sp>
      <p:sp>
        <p:nvSpPr>
          <p:cNvPr id="100084" name="Step3Text"/>
          <p:cNvSpPr txBox="1"/>
          <p:nvPr/>
        </p:nvSpPr>
        <p:spPr>
          <a:xfrm>
            <a:off x="5400000" y="1980000"/>
            <a:ext cx="1980000" cy="720000"/>
          </a:xfrm>
          <a:prstGeom prst="rect">
            <a:avLst/>
          </a:prstGeom>
        </p:spPr>
        <p:txBody>
          <a:bodyPr/>
          <a:lstStyle/>
          <a:p>
            <a:pPr algn="ctr"/>
            <a:r>
              <a:rPr lang="en-US" sz="1200">
                <a:solidFill>
                  <a:srgbClr val="A8D5F0"/>
                </a:solidFill>
              </a:rPr>
              <a:t>Violations are scored as Low, Medium, or High risk.</a:t>
            </a:r>
          </a:p>
        </p:txBody>
      </p:sp>
      <p:sp>
        <p:nvSpPr>
          <p:cNvPr id="100085" name="Arr3"/>
          <p:cNvSpPr txBox="1"/>
          <p:nvPr/>
        </p:nvSpPr>
        <p:spPr>
          <a:xfrm>
            <a:off x="7488000" y="1980000"/>
            <a:ext cx="360000" cy="360000"/>
          </a:xfrm>
          <a:prstGeom prst="rect">
            <a:avLst/>
          </a:prstGeom>
        </p:spPr>
        <p:txBody>
          <a:bodyPr/>
          <a:lstStyle/>
          <a:p>
            <a:pPr algn="ctr"/>
            <a:r>
              <a:rPr lang="en-US" sz="1800" b="1">
                <a:solidFill>
                  <a:srgbClr val="2E86AB"/>
                </a:solidFill>
              </a:rPr>
              <a:t>▶</a:t>
            </a:r>
          </a:p>
        </p:txBody>
      </p:sp>
      <p:sp>
        <p:nvSpPr>
          <p:cNvPr id="100086" name="Step4Box"/>
          <p:cNvSpPr txBox="1"/>
          <p:nvPr/>
        </p:nvSpPr>
        <p:spPr>
          <a:xfrm>
            <a:off x="7920000" y="1080000"/>
            <a:ext cx="1980000" cy="2160000"/>
          </a:xfrm>
          <a:prstGeom prst="rect">
            <a:avLst/>
          </a:prstGeom>
          <a:solidFill>
            <a:srgbClr val="1A3A5C"/>
          </a:solidFill>
        </p:spPr>
        <p:txBody>
          <a:bodyPr/>
          <a:lstStyle/>
          <a:p>
            <a:endParaRPr lang="en-US" sz="1200">
              <a:solidFill>
                <a:srgbClr val="1A3A5C"/>
              </a:solidFill>
            </a:endParaRPr>
          </a:p>
        </p:txBody>
      </p:sp>
      <p:sp>
        <p:nvSpPr>
          <p:cNvPr id="100087" name="Step4Num"/>
          <p:cNvSpPr txBox="1"/>
          <p:nvPr/>
        </p:nvSpPr>
        <p:spPr>
          <a:xfrm>
            <a:off x="7920000" y="1152000"/>
            <a:ext cx="1980000" cy="360000"/>
          </a:xfrm>
          <a:prstGeom prst="rect">
            <a:avLst/>
          </a:prstGeom>
        </p:spPr>
        <p:txBody>
          <a:bodyPr/>
          <a:lstStyle/>
          <a:p>
            <a:pPr algn="ctr"/>
            <a:r>
              <a:rPr lang="en-US" sz="2800" b="1">
                <a:solidFill>
                  <a:srgbClr val="2E86AB"/>
                </a:solidFill>
              </a:rPr>
              <a:t>4</a:t>
            </a:r>
          </a:p>
        </p:txBody>
      </p:sp>
      <p:sp>
        <p:nvSpPr>
          <p:cNvPr id="100088" name="Step4Title"/>
          <p:cNvSpPr txBox="1"/>
          <p:nvPr/>
        </p:nvSpPr>
        <p:spPr>
          <a:xfrm>
            <a:off x="7920000" y="1548000"/>
            <a:ext cx="1980000" cy="360000"/>
          </a:xfrm>
          <a:prstGeom prst="rect">
            <a:avLst/>
          </a:prstGeom>
        </p:spPr>
        <p:txBody>
          <a:bodyPr/>
          <a:lstStyle/>
          <a:p>
            <a:pPr algn="ctr"/>
            <a:r>
              <a:rPr lang="en-US" sz="1600" b="1">
                <a:solidFill>
                  <a:srgbClr val="FFFFFF"/>
                </a:solidFill>
              </a:rPr>
              <a:t>Alert</a:t>
            </a:r>
          </a:p>
          <a:p>
            <a:pPr algn="ctr"/>
            <a:r>
              <a:rPr lang="en-US" sz="1600" b="1">
                <a:solidFill>
                  <a:srgbClr val="FFFFFF"/>
                </a:solidFill>
              </a:rPr>
              <a:t>Generation</a:t>
            </a:r>
          </a:p>
        </p:txBody>
      </p:sp>
      <p:sp>
        <p:nvSpPr>
          <p:cNvPr id="100089" name="Step4Text"/>
          <p:cNvSpPr txBox="1"/>
          <p:nvPr/>
        </p:nvSpPr>
        <p:spPr>
          <a:xfrm>
            <a:off x="7920000" y="1980000"/>
            <a:ext cx="1980000" cy="720000"/>
          </a:xfrm>
          <a:prstGeom prst="rect">
            <a:avLst/>
          </a:prstGeom>
        </p:spPr>
        <p:txBody>
          <a:bodyPr/>
          <a:lstStyle/>
          <a:p>
            <a:pPr algn="ctr"/>
            <a:r>
              <a:rPr lang="en-US" sz="1200">
                <a:solidFill>
                  <a:srgbClr val="A8D5F0"/>
                </a:solidFill>
              </a:rPr>
              <a:t>Alerts are sent to relevant coordinators or safety officers.</a:t>
            </a:r>
          </a:p>
        </p:txBody>
      </p:sp>
      <p:sp>
        <p:nvSpPr>
          <p:cNvPr id="100090" name="Arr4"/>
          <p:cNvSpPr txBox="1"/>
          <p:nvPr/>
        </p:nvSpPr>
        <p:spPr>
          <a:xfrm>
            <a:off x="10008000" y="1980000"/>
            <a:ext cx="360000" cy="360000"/>
          </a:xfrm>
          <a:prstGeom prst="rect">
            <a:avLst/>
          </a:prstGeom>
        </p:spPr>
        <p:txBody>
          <a:bodyPr/>
          <a:lstStyle/>
          <a:p>
            <a:pPr algn="ctr"/>
            <a:r>
              <a:rPr lang="en-US" sz="1800" b="1">
                <a:solidFill>
                  <a:srgbClr val="2E86AB"/>
                </a:solidFill>
              </a:rPr>
              <a:t>▶</a:t>
            </a:r>
          </a:p>
        </p:txBody>
      </p:sp>
      <p:sp>
        <p:nvSpPr>
          <p:cNvPr id="100091" name="Step5Box"/>
          <p:cNvSpPr txBox="1"/>
          <p:nvPr/>
        </p:nvSpPr>
        <p:spPr>
          <a:xfrm>
            <a:off x="10440000" y="1080000"/>
            <a:ext cx="1620000" cy="2160000"/>
          </a:xfrm>
          <a:prstGeom prst="rect">
            <a:avLst/>
          </a:prstGeom>
          <a:solidFill>
            <a:srgbClr val="2E86AB"/>
          </a:solidFill>
        </p:spPr>
        <p:txBody>
          <a:bodyPr/>
          <a:lstStyle/>
          <a:p>
            <a:endParaRPr lang="en-US" sz="1200">
              <a:solidFill>
                <a:srgbClr val="2E86AB"/>
              </a:solidFill>
            </a:endParaRPr>
          </a:p>
        </p:txBody>
      </p:sp>
      <p:sp>
        <p:nvSpPr>
          <p:cNvPr id="100092" name="Step5Num"/>
          <p:cNvSpPr txBox="1"/>
          <p:nvPr/>
        </p:nvSpPr>
        <p:spPr>
          <a:xfrm>
            <a:off x="10440000" y="1152000"/>
            <a:ext cx="1620000" cy="360000"/>
          </a:xfrm>
          <a:prstGeom prst="rect">
            <a:avLst/>
          </a:prstGeom>
        </p:spPr>
        <p:txBody>
          <a:bodyPr/>
          <a:lstStyle/>
          <a:p>
            <a:pPr algn="ctr"/>
            <a:r>
              <a:rPr lang="en-US" sz="2800" b="1">
                <a:solidFill>
                  <a:srgbClr val="FFFFFF"/>
                </a:solidFill>
              </a:rPr>
              <a:t>5</a:t>
            </a:r>
          </a:p>
        </p:txBody>
      </p:sp>
      <p:sp>
        <p:nvSpPr>
          <p:cNvPr id="100093" name="Step5Title"/>
          <p:cNvSpPr txBox="1"/>
          <p:nvPr/>
        </p:nvSpPr>
        <p:spPr>
          <a:xfrm>
            <a:off x="10440000" y="1548000"/>
            <a:ext cx="1620000" cy="360000"/>
          </a:xfrm>
          <a:prstGeom prst="rect">
            <a:avLst/>
          </a:prstGeom>
        </p:spPr>
        <p:txBody>
          <a:bodyPr/>
          <a:lstStyle/>
          <a:p>
            <a:pPr algn="ctr"/>
            <a:r>
              <a:rPr lang="en-US" sz="1600" b="1">
                <a:solidFill>
                  <a:srgbClr val="FFFFFF"/>
                </a:solidFill>
              </a:rPr>
              <a:t>Dashboard</a:t>
            </a:r>
          </a:p>
          <a:p>
            <a:pPr algn="ctr"/>
            <a:r>
              <a:rPr lang="en-US" sz="1600" b="1">
                <a:solidFill>
                  <a:srgbClr val="FFFFFF"/>
                </a:solidFill>
              </a:rPr>
              <a:t>&amp; Action</a:t>
            </a:r>
          </a:p>
        </p:txBody>
      </p:sp>
      <p:sp>
        <p:nvSpPr>
          <p:cNvPr id="100094" name="Step5Text"/>
          <p:cNvSpPr txBox="1"/>
          <p:nvPr/>
        </p:nvSpPr>
        <p:spPr>
          <a:xfrm>
            <a:off x="10440000" y="1980000"/>
            <a:ext cx="1620000" cy="720000"/>
          </a:xfrm>
          <a:prstGeom prst="rect">
            <a:avLst/>
          </a:prstGeom>
        </p:spPr>
        <p:txBody>
          <a:bodyPr/>
          <a:lstStyle/>
          <a:p>
            <a:pPr algn="ctr"/>
            <a:r>
              <a:rPr lang="en-US" sz="1200">
                <a:solidFill>
                  <a:srgbClr val="D6EAF8"/>
                </a:solidFill>
              </a:rPr>
              <a:t>Coordinator reviews, acts, and logs resolution.</a:t>
            </a:r>
          </a:p>
        </p:txBody>
      </p:sp>
      <p:sp>
        <p:nvSpPr>
          <p:cNvPr id="100095" name="SummaryNote"/>
          <p:cNvSpPr txBox="1"/>
          <p:nvPr/>
        </p:nvSpPr>
        <p:spPr>
          <a:xfrm>
            <a:off x="540000" y="3960000"/>
            <a:ext cx="10800000" cy="324000"/>
          </a:xfrm>
          <a:prstGeom prst="rect">
            <a:avLst/>
          </a:prstGeom>
        </p:spPr>
        <p:txBody>
          <a:bodyPr/>
          <a:lstStyle/>
          <a:p>
            <a:pPr algn="ctr"/>
            <a:r>
              <a:rPr lang="en-US" sz="1600" b="1">
                <a:solidFill>
                  <a:srgbClr val="1A3A5C"/>
                </a:solidFill>
              </a:rPr>
              <a:t>The entire pipeline runs automatically — coordinators only need to act when an alert is raised.</a:t>
            </a:r>
          </a:p>
        </p:txBody>
      </p:sp>
      <p:sp>
        <p:nvSpPr>
          <p:cNvPr id="100096" name="Footer"/>
          <p:cNvSpPr txBox="1"/>
          <p:nvPr/>
        </p:nvSpPr>
        <p:spPr>
          <a:xfrm>
            <a:off x="0" y="6660000"/>
            <a:ext cx="12193200" cy="180000"/>
          </a:xfrm>
          <a:prstGeom prst="rect">
            <a:avLst/>
          </a:prstGeom>
          <a:solidFill>
            <a:srgbClr val="1A3A5C"/>
          </a:solidFill>
        </p:spPr>
        <p:txBody>
          <a:bodyPr/>
          <a:lstStyle/>
          <a:p>
            <a:endParaRPr lang="en-US" sz="1000">
              <a:solidFill>
                <a:srgbClr val="1A3A5C"/>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097" name="Header"/>
          <p:cNvSpPr txBox="1"/>
          <p:nvPr/>
        </p:nvSpPr>
        <p:spPr>
          <a:xfrm>
            <a:off x="0" y="0"/>
            <a:ext cx="12193200" cy="504000"/>
          </a:xfrm>
          <a:prstGeom prst="rect">
            <a:avLst/>
          </a:prstGeom>
          <a:solidFill>
            <a:srgbClr val="1A3A5C"/>
          </a:solidFill>
        </p:spPr>
        <p:txBody>
          <a:bodyPr/>
          <a:lstStyle/>
          <a:p>
            <a:endParaRPr lang="en-US" sz="1000">
              <a:solidFill>
                <a:srgbClr val="1A3A5C"/>
              </a:solidFill>
            </a:endParaRPr>
          </a:p>
        </p:txBody>
      </p:sp>
      <p:sp>
        <p:nvSpPr>
          <p:cNvPr id="100098" name="SlideNum"/>
          <p:cNvSpPr txBox="1"/>
          <p:nvPr/>
        </p:nvSpPr>
        <p:spPr>
          <a:xfrm>
            <a:off x="10800000" y="108000"/>
            <a:ext cx="900000" cy="252000"/>
          </a:xfrm>
          <a:prstGeom prst="rect">
            <a:avLst/>
          </a:prstGeom>
        </p:spPr>
        <p:txBody>
          <a:bodyPr/>
          <a:lstStyle/>
          <a:p>
            <a:pPr algn="r"/>
            <a:r>
              <a:rPr lang="en-US" sz="1100">
                <a:solidFill>
                  <a:srgbClr val="7FBAD6"/>
                </a:solidFill>
              </a:rPr>
              <a:t>06</a:t>
            </a:r>
          </a:p>
        </p:txBody>
      </p:sp>
      <p:sp>
        <p:nvSpPr>
          <p:cNvPr id="100099" name="SlideTitle"/>
          <p:cNvSpPr txBox="1"/>
          <p:nvPr/>
        </p:nvSpPr>
        <p:spPr>
          <a:xfrm>
            <a:off x="540000" y="72000"/>
            <a:ext cx="10080000" cy="360000"/>
          </a:xfrm>
          <a:prstGeom prst="rect">
            <a:avLst/>
          </a:prstGeom>
        </p:spPr>
        <p:txBody>
          <a:bodyPr/>
          <a:lstStyle/>
          <a:p>
            <a:r>
              <a:rPr lang="en-US" sz="2600" b="1">
                <a:solidFill>
                  <a:srgbClr val="FFFFFF"/>
                </a:solidFill>
              </a:rPr>
              <a:t>Technology Stack</a:t>
            </a:r>
          </a:p>
        </p:txBody>
      </p:sp>
      <p:sp>
        <p:nvSpPr>
          <p:cNvPr id="100100" name="Intro"/>
          <p:cNvSpPr txBox="1"/>
          <p:nvPr/>
        </p:nvSpPr>
        <p:spPr>
          <a:xfrm>
            <a:off x="540000" y="612000"/>
            <a:ext cx="10800000" cy="252000"/>
          </a:xfrm>
          <a:prstGeom prst="rect">
            <a:avLst/>
          </a:prstGeom>
        </p:spPr>
        <p:txBody>
          <a:bodyPr/>
          <a:lstStyle/>
          <a:p>
            <a:pPr algn="ctr"/>
            <a:r>
              <a:rPr lang="en-US" sz="1600">
                <a:solidFill>
                  <a:srgbClr val="555555"/>
                </a:solidFill>
              </a:rPr>
              <a:t>Built with modern, open-source technologies chosen for reliability, speed, and ease of deployment.</a:t>
            </a:r>
          </a:p>
        </p:txBody>
      </p:sp>
      <p:sp>
        <p:nvSpPr>
          <p:cNvPr id="100101" name="FEHeader"/>
          <p:cNvSpPr txBox="1"/>
          <p:nvPr/>
        </p:nvSpPr>
        <p:spPr>
          <a:xfrm>
            <a:off x="540000" y="1008000"/>
            <a:ext cx="3420000" cy="252000"/>
          </a:xfrm>
          <a:prstGeom prst="rect">
            <a:avLst/>
          </a:prstGeom>
        </p:spPr>
        <p:txBody>
          <a:bodyPr/>
          <a:lstStyle/>
          <a:p>
            <a:pPr algn="ctr"/>
            <a:r>
              <a:rPr lang="en-US" sz="1300" b="1">
                <a:solidFill>
                  <a:srgbClr val="2E86AB"/>
                </a:solidFill>
              </a:rPr>
              <a:t>FRONTEND</a:t>
            </a:r>
          </a:p>
        </p:txBody>
      </p:sp>
      <p:sp>
        <p:nvSpPr>
          <p:cNvPr id="100102" name="FEBox"/>
          <p:cNvSpPr txBox="1"/>
          <p:nvPr/>
        </p:nvSpPr>
        <p:spPr>
          <a:xfrm>
            <a:off x="540000" y="1260000"/>
            <a:ext cx="3420000" cy="2700000"/>
          </a:xfrm>
          <a:prstGeom prst="rect">
            <a:avLst/>
          </a:prstGeom>
          <a:solidFill>
            <a:srgbClr val="F4F8FF"/>
          </a:solidFill>
        </p:spPr>
        <p:txBody>
          <a:bodyPr/>
          <a:lstStyle/>
          <a:p>
            <a:endParaRPr lang="en-US" sz="1400">
              <a:solidFill>
                <a:srgbClr val="F4F8FF"/>
              </a:solidFill>
            </a:endParaRPr>
          </a:p>
        </p:txBody>
      </p:sp>
      <p:sp>
        <p:nvSpPr>
          <p:cNvPr id="100103" name="FEItems"/>
          <p:cNvSpPr txBox="1"/>
          <p:nvPr/>
        </p:nvSpPr>
        <p:spPr>
          <a:xfrm>
            <a:off x="612000" y="1332000"/>
            <a:ext cx="3240000" cy="2520000"/>
          </a:xfrm>
          <a:prstGeom prst="rect">
            <a:avLst/>
          </a:prstGeom>
        </p:spPr>
        <p:txBody>
          <a:bodyPr/>
          <a:lstStyle/>
          <a:p>
            <a:r>
              <a:rPr lang="en-US" sz="1600">
                <a:solidFill>
                  <a:srgbClr val="1A3A5C"/>
                </a:solidFill>
              </a:rPr>
              <a:t>React.js</a:t>
            </a:r>
          </a:p>
          <a:p>
            <a:endParaRPr lang="en-US" sz="1600">
              <a:solidFill>
                <a:srgbClr val="1A3A5C"/>
              </a:solidFill>
            </a:endParaRPr>
          </a:p>
          <a:p>
            <a:r>
              <a:rPr lang="en-US" sz="1600">
                <a:solidFill>
                  <a:srgbClr val="1A3A5C"/>
                </a:solidFill>
              </a:rPr>
              <a:t>HTML5 / CSS3</a:t>
            </a:r>
          </a:p>
          <a:p>
            <a:endParaRPr lang="en-US" sz="1600">
              <a:solidFill>
                <a:srgbClr val="1A3A5C"/>
              </a:solidFill>
            </a:endParaRPr>
          </a:p>
          <a:p>
            <a:r>
              <a:rPr lang="en-US" sz="1600">
                <a:solidFill>
                  <a:srgbClr val="1A3A5C"/>
                </a:solidFill>
              </a:rPr>
              <a:t>ECharts / Chart.js</a:t>
            </a:r>
          </a:p>
          <a:p>
            <a:endParaRPr lang="en-US" sz="1600">
              <a:solidFill>
                <a:srgbClr val="1A3A5C"/>
              </a:solidFill>
            </a:endParaRPr>
          </a:p>
          <a:p>
            <a:r>
              <a:rPr lang="en-US" sz="1600">
                <a:solidFill>
                  <a:srgbClr val="1A3A5C"/>
                </a:solidFill>
              </a:rPr>
              <a:t>Axios (API calls)</a:t>
            </a:r>
          </a:p>
        </p:txBody>
      </p:sp>
      <p:sp>
        <p:nvSpPr>
          <p:cNvPr id="100104" name="BEHeader"/>
          <p:cNvSpPr txBox="1"/>
          <p:nvPr/>
        </p:nvSpPr>
        <p:spPr>
          <a:xfrm>
            <a:off x="4500000" y="1008000"/>
            <a:ext cx="3420000" cy="252000"/>
          </a:xfrm>
          <a:prstGeom prst="rect">
            <a:avLst/>
          </a:prstGeom>
        </p:spPr>
        <p:txBody>
          <a:bodyPr/>
          <a:lstStyle/>
          <a:p>
            <a:pPr algn="ctr"/>
            <a:r>
              <a:rPr lang="en-US" sz="1300" b="1">
                <a:solidFill>
                  <a:srgbClr val="2E86AB"/>
                </a:solidFill>
              </a:rPr>
              <a:t>BACKEND</a:t>
            </a:r>
          </a:p>
        </p:txBody>
      </p:sp>
      <p:sp>
        <p:nvSpPr>
          <p:cNvPr id="100105" name="BEBox"/>
          <p:cNvSpPr txBox="1"/>
          <p:nvPr/>
        </p:nvSpPr>
        <p:spPr>
          <a:xfrm>
            <a:off x="4500000" y="1260000"/>
            <a:ext cx="3420000" cy="2700000"/>
          </a:xfrm>
          <a:prstGeom prst="rect">
            <a:avLst/>
          </a:prstGeom>
          <a:solidFill>
            <a:srgbClr val="F4F8FF"/>
          </a:solidFill>
        </p:spPr>
        <p:txBody>
          <a:bodyPr/>
          <a:lstStyle/>
          <a:p>
            <a:endParaRPr lang="en-US" sz="1400">
              <a:solidFill>
                <a:srgbClr val="F4F8FF"/>
              </a:solidFill>
            </a:endParaRPr>
          </a:p>
        </p:txBody>
      </p:sp>
      <p:sp>
        <p:nvSpPr>
          <p:cNvPr id="100106" name="BEItems"/>
          <p:cNvSpPr txBox="1"/>
          <p:nvPr/>
        </p:nvSpPr>
        <p:spPr>
          <a:xfrm>
            <a:off x="4572000" y="1332000"/>
            <a:ext cx="3240000" cy="2520000"/>
          </a:xfrm>
          <a:prstGeom prst="rect">
            <a:avLst/>
          </a:prstGeom>
        </p:spPr>
        <p:txBody>
          <a:bodyPr/>
          <a:lstStyle/>
          <a:p>
            <a:r>
              <a:rPr lang="en-US" sz="1600">
                <a:solidFill>
                  <a:srgbClr val="1A3A5C"/>
                </a:solidFill>
              </a:rPr>
              <a:t>Node.js / Express</a:t>
            </a:r>
          </a:p>
          <a:p>
            <a:endParaRPr lang="en-US" sz="1600">
              <a:solidFill>
                <a:srgbClr val="1A3A5C"/>
              </a:solidFill>
            </a:endParaRPr>
          </a:p>
          <a:p>
            <a:r>
              <a:rPr lang="en-US" sz="1600">
                <a:solidFill>
                  <a:srgbClr val="1A3A5C"/>
                </a:solidFill>
              </a:rPr>
              <a:t>Python (risk engine)</a:t>
            </a:r>
          </a:p>
          <a:p>
            <a:endParaRPr lang="en-US" sz="1600">
              <a:solidFill>
                <a:srgbClr val="1A3A5C"/>
              </a:solidFill>
            </a:endParaRPr>
          </a:p>
          <a:p>
            <a:r>
              <a:rPr lang="en-US" sz="1600">
                <a:solidFill>
                  <a:srgbClr val="1A3A5C"/>
                </a:solidFill>
              </a:rPr>
              <a:t>REST API</a:t>
            </a:r>
          </a:p>
          <a:p>
            <a:endParaRPr lang="en-US" sz="1600">
              <a:solidFill>
                <a:srgbClr val="1A3A5C"/>
              </a:solidFill>
            </a:endParaRPr>
          </a:p>
          <a:p>
            <a:r>
              <a:rPr lang="en-US" sz="1600">
                <a:solidFill>
                  <a:srgbClr val="1A3A5C"/>
                </a:solidFill>
              </a:rPr>
              <a:t>JWT Authentication</a:t>
            </a:r>
          </a:p>
        </p:txBody>
      </p:sp>
      <p:sp>
        <p:nvSpPr>
          <p:cNvPr id="100107" name="DBHeader"/>
          <p:cNvSpPr txBox="1"/>
          <p:nvPr/>
        </p:nvSpPr>
        <p:spPr>
          <a:xfrm>
            <a:off x="8460000" y="1008000"/>
            <a:ext cx="3420000" cy="252000"/>
          </a:xfrm>
          <a:prstGeom prst="rect">
            <a:avLst/>
          </a:prstGeom>
        </p:spPr>
        <p:txBody>
          <a:bodyPr/>
          <a:lstStyle/>
          <a:p>
            <a:pPr algn="ctr"/>
            <a:r>
              <a:rPr lang="en-US" sz="1300" b="1">
                <a:solidFill>
                  <a:srgbClr val="2E86AB"/>
                </a:solidFill>
              </a:rPr>
              <a:t>DATA &amp; STORAGE</a:t>
            </a:r>
          </a:p>
        </p:txBody>
      </p:sp>
      <p:sp>
        <p:nvSpPr>
          <p:cNvPr id="100108" name="DBBox"/>
          <p:cNvSpPr txBox="1"/>
          <p:nvPr/>
        </p:nvSpPr>
        <p:spPr>
          <a:xfrm>
            <a:off x="8460000" y="1260000"/>
            <a:ext cx="3420000" cy="2700000"/>
          </a:xfrm>
          <a:prstGeom prst="rect">
            <a:avLst/>
          </a:prstGeom>
          <a:solidFill>
            <a:srgbClr val="F4F8FF"/>
          </a:solidFill>
        </p:spPr>
        <p:txBody>
          <a:bodyPr/>
          <a:lstStyle/>
          <a:p>
            <a:endParaRPr lang="en-US" sz="1400">
              <a:solidFill>
                <a:srgbClr val="F4F8FF"/>
              </a:solidFill>
            </a:endParaRPr>
          </a:p>
        </p:txBody>
      </p:sp>
      <p:sp>
        <p:nvSpPr>
          <p:cNvPr id="100109" name="DBItems"/>
          <p:cNvSpPr txBox="1"/>
          <p:nvPr/>
        </p:nvSpPr>
        <p:spPr>
          <a:xfrm>
            <a:off x="8532000" y="1332000"/>
            <a:ext cx="3240000" cy="2520000"/>
          </a:xfrm>
          <a:prstGeom prst="rect">
            <a:avLst/>
          </a:prstGeom>
        </p:spPr>
        <p:txBody>
          <a:bodyPr/>
          <a:lstStyle/>
          <a:p>
            <a:r>
              <a:rPr lang="en-US" sz="1600">
                <a:solidFill>
                  <a:srgbClr val="1A3A5C"/>
                </a:solidFill>
              </a:rPr>
              <a:t>MongoDB / PostgreSQL</a:t>
            </a:r>
          </a:p>
          <a:p>
            <a:endParaRPr lang="en-US" sz="1600">
              <a:solidFill>
                <a:srgbClr val="1A3A5C"/>
              </a:solidFill>
            </a:endParaRPr>
          </a:p>
          <a:p>
            <a:r>
              <a:rPr lang="en-US" sz="1600">
                <a:solidFill>
                  <a:srgbClr val="1A3A5C"/>
                </a:solidFill>
              </a:rPr>
              <a:t>CSV / JSON ingestion</a:t>
            </a:r>
          </a:p>
          <a:p>
            <a:endParaRPr lang="en-US" sz="1600">
              <a:solidFill>
                <a:srgbClr val="1A3A5C"/>
              </a:solidFill>
            </a:endParaRPr>
          </a:p>
          <a:p>
            <a:r>
              <a:rPr lang="en-US" sz="1600">
                <a:solidFill>
                  <a:srgbClr val="1A3A5C"/>
                </a:solidFill>
              </a:rPr>
              <a:t>Audit log storage</a:t>
            </a:r>
          </a:p>
          <a:p>
            <a:endParaRPr lang="en-US" sz="1600">
              <a:solidFill>
                <a:srgbClr val="1A3A5C"/>
              </a:solidFill>
            </a:endParaRPr>
          </a:p>
          <a:p>
            <a:r>
              <a:rPr lang="en-US" sz="1600">
                <a:solidFill>
                  <a:srgbClr val="1A3A5C"/>
                </a:solidFill>
              </a:rPr>
              <a:t>Cloud-ready (AWS / Azure)</a:t>
            </a:r>
          </a:p>
        </p:txBody>
      </p:sp>
      <p:sp>
        <p:nvSpPr>
          <p:cNvPr id="100110" name="DevHeader"/>
          <p:cNvSpPr txBox="1"/>
          <p:nvPr/>
        </p:nvSpPr>
        <p:spPr>
          <a:xfrm>
            <a:off x="540000" y="4140000"/>
            <a:ext cx="11113200" cy="216000"/>
          </a:xfrm>
          <a:prstGeom prst="rect">
            <a:avLst/>
          </a:prstGeom>
        </p:spPr>
        <p:txBody>
          <a:bodyPr/>
          <a:lstStyle/>
          <a:p>
            <a:pPr algn="ctr"/>
            <a:r>
              <a:rPr lang="en-US" sz="1300" b="1">
                <a:solidFill>
                  <a:srgbClr val="2E86AB"/>
                </a:solidFill>
              </a:rPr>
              <a:t>DevOps &amp; Tools</a:t>
            </a:r>
          </a:p>
        </p:txBody>
      </p:sp>
      <p:sp>
        <p:nvSpPr>
          <p:cNvPr id="100111" name="DevItems"/>
          <p:cNvSpPr txBox="1"/>
          <p:nvPr/>
        </p:nvSpPr>
        <p:spPr>
          <a:xfrm>
            <a:off x="540000" y="4392000"/>
            <a:ext cx="11113200" cy="252000"/>
          </a:xfrm>
          <a:prstGeom prst="rect">
            <a:avLst/>
          </a:prstGeom>
        </p:spPr>
        <p:txBody>
          <a:bodyPr/>
          <a:lstStyle/>
          <a:p>
            <a:pPr algn="ctr"/>
            <a:r>
              <a:rPr lang="en-US" sz="1500" dirty="0">
                <a:solidFill>
                  <a:srgbClr val="444444"/>
                </a:solidFill>
              </a:rPr>
              <a:t>Git / GitHub   ·  VS Code  ·  GitHub Actions (CI/CD)</a:t>
            </a:r>
          </a:p>
        </p:txBody>
      </p:sp>
      <p:sp>
        <p:nvSpPr>
          <p:cNvPr id="100112" name="Footer"/>
          <p:cNvSpPr txBox="1"/>
          <p:nvPr/>
        </p:nvSpPr>
        <p:spPr>
          <a:xfrm>
            <a:off x="0" y="6660000"/>
            <a:ext cx="12193200" cy="180000"/>
          </a:xfrm>
          <a:prstGeom prst="rect">
            <a:avLst/>
          </a:prstGeom>
          <a:solidFill>
            <a:srgbClr val="1A3A5C"/>
          </a:solidFill>
        </p:spPr>
        <p:txBody>
          <a:bodyPr/>
          <a:lstStyle/>
          <a:p>
            <a:endParaRPr lang="en-US" sz="1000">
              <a:solidFill>
                <a:srgbClr val="1A3A5C"/>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100113" name="TopAccent"/>
          <p:cNvSpPr txBox="1"/>
          <p:nvPr/>
        </p:nvSpPr>
        <p:spPr>
          <a:xfrm>
            <a:off x="0" y="0"/>
            <a:ext cx="12193200" cy="180000"/>
          </a:xfrm>
          <a:prstGeom prst="rect">
            <a:avLst/>
          </a:prstGeom>
          <a:solidFill>
            <a:srgbClr val="2E86AB"/>
          </a:solidFill>
        </p:spPr>
        <p:txBody>
          <a:bodyPr/>
          <a:lstStyle/>
          <a:p>
            <a:endParaRPr lang="en-US" sz="1000">
              <a:solidFill>
                <a:srgbClr val="2E86AB"/>
              </a:solidFill>
            </a:endParaRPr>
          </a:p>
        </p:txBody>
      </p:sp>
      <p:sp>
        <p:nvSpPr>
          <p:cNvPr id="100114" name="SlideNum"/>
          <p:cNvSpPr txBox="1"/>
          <p:nvPr/>
        </p:nvSpPr>
        <p:spPr>
          <a:xfrm>
            <a:off x="10800000" y="288000"/>
            <a:ext cx="900000" cy="252000"/>
          </a:xfrm>
          <a:prstGeom prst="rect">
            <a:avLst/>
          </a:prstGeom>
        </p:spPr>
        <p:txBody>
          <a:bodyPr/>
          <a:lstStyle/>
          <a:p>
            <a:pPr algn="r"/>
            <a:r>
              <a:rPr lang="en-US" sz="1100">
                <a:solidFill>
                  <a:srgbClr val="7FBAD6"/>
                </a:solidFill>
              </a:rPr>
              <a:t>07</a:t>
            </a:r>
          </a:p>
        </p:txBody>
      </p:sp>
      <p:sp>
        <p:nvSpPr>
          <p:cNvPr id="100115" name="SlideTitle"/>
          <p:cNvSpPr txBox="1"/>
          <p:nvPr/>
        </p:nvSpPr>
        <p:spPr>
          <a:xfrm>
            <a:off x="540000" y="252000"/>
            <a:ext cx="10080000" cy="360000"/>
          </a:xfrm>
          <a:prstGeom prst="rect">
            <a:avLst/>
          </a:prstGeom>
        </p:spPr>
        <p:txBody>
          <a:bodyPr/>
          <a:lstStyle/>
          <a:p>
            <a:r>
              <a:rPr lang="en-US" sz="2600" b="1">
                <a:solidFill>
                  <a:srgbClr val="FFFFFF"/>
                </a:solidFill>
              </a:rPr>
              <a:t>Project Demonstration</a:t>
            </a:r>
          </a:p>
        </p:txBody>
      </p:sp>
      <p:sp>
        <p:nvSpPr>
          <p:cNvPr id="100116" name="DemoLabel"/>
          <p:cNvSpPr txBox="1"/>
          <p:nvPr/>
        </p:nvSpPr>
        <p:spPr>
          <a:xfrm>
            <a:off x="4680000" y="792000"/>
            <a:ext cx="2880000" cy="288000"/>
          </a:xfrm>
          <a:prstGeom prst="rect">
            <a:avLst/>
          </a:prstGeom>
        </p:spPr>
        <p:txBody>
          <a:bodyPr/>
          <a:lstStyle/>
          <a:p>
            <a:pPr algn="ctr"/>
            <a:r>
              <a:rPr lang="en-US" sz="1300" b="1">
                <a:solidFill>
                  <a:srgbClr val="2E86AB"/>
                </a:solidFill>
              </a:rPr>
              <a:t>LIVE DEMO</a:t>
            </a:r>
          </a:p>
        </p:txBody>
      </p:sp>
      <p:sp>
        <p:nvSpPr>
          <p:cNvPr id="100117" name="Screenshot1"/>
          <p:cNvSpPr txBox="1"/>
          <p:nvPr/>
        </p:nvSpPr>
        <p:spPr>
          <a:xfrm>
            <a:off x="540000" y="1152000"/>
            <a:ext cx="5400000" cy="2880000"/>
          </a:xfrm>
          <a:prstGeom prst="rect">
            <a:avLst/>
          </a:prstGeom>
          <a:solidFill>
            <a:srgbClr val="1A3A5C"/>
          </a:solidFill>
        </p:spPr>
        <p:txBody>
          <a:bodyPr/>
          <a:lstStyle/>
          <a:p>
            <a:pPr algn="ctr"/>
            <a:r>
              <a:rPr lang="en-US" sz="1400">
                <a:solidFill>
                  <a:srgbClr val="7FBAD6"/>
                </a:solidFill>
              </a:rPr>
              <a:t>[ Screenshot: Risk Dashboard Overview ]</a:t>
            </a:r>
          </a:p>
          <a:p>
            <a:pPr algn="ctr"/>
            <a:endParaRPr lang="en-US" sz="1400">
              <a:solidFill>
                <a:srgbClr val="7FBAD6"/>
              </a:solidFill>
            </a:endParaRPr>
          </a:p>
          <a:p>
            <a:pPr algn="ctr"/>
            <a:r>
              <a:rPr lang="en-US" sz="1400">
                <a:solidFill>
                  <a:srgbClr val="7FBAD6"/>
                </a:solidFill>
              </a:rPr>
              <a:t>Insert dashboard screenshot here</a:t>
            </a:r>
          </a:p>
        </p:txBody>
      </p:sp>
      <p:sp>
        <p:nvSpPr>
          <p:cNvPr id="100118" name="Screenshot2"/>
          <p:cNvSpPr txBox="1"/>
          <p:nvPr/>
        </p:nvSpPr>
        <p:spPr>
          <a:xfrm>
            <a:off x="6300000" y="1152000"/>
            <a:ext cx="5400000" cy="2880000"/>
          </a:xfrm>
          <a:prstGeom prst="rect">
            <a:avLst/>
          </a:prstGeom>
          <a:solidFill>
            <a:srgbClr val="1A3A5C"/>
          </a:solidFill>
        </p:spPr>
        <p:txBody>
          <a:bodyPr/>
          <a:lstStyle/>
          <a:p>
            <a:pPr algn="ctr"/>
            <a:r>
              <a:rPr lang="en-US" sz="1400">
                <a:solidFill>
                  <a:srgbClr val="7FBAD6"/>
                </a:solidFill>
              </a:rPr>
              <a:t>[ Screenshot: Protocol Deviation Alert ]</a:t>
            </a:r>
          </a:p>
          <a:p>
            <a:pPr algn="ctr"/>
            <a:endParaRPr lang="en-US" sz="1400">
              <a:solidFill>
                <a:srgbClr val="7FBAD6"/>
              </a:solidFill>
            </a:endParaRPr>
          </a:p>
          <a:p>
            <a:pPr algn="ctr"/>
            <a:r>
              <a:rPr lang="en-US" sz="1400">
                <a:solidFill>
                  <a:srgbClr val="7FBAD6"/>
                </a:solidFill>
              </a:rPr>
              <a:t>Insert alert detail screenshot here</a:t>
            </a:r>
          </a:p>
        </p:txBody>
      </p:sp>
      <p:sp>
        <p:nvSpPr>
          <p:cNvPr id="100119" name="DemoDesc"/>
          <p:cNvSpPr txBox="1"/>
          <p:nvPr/>
        </p:nvSpPr>
        <p:spPr>
          <a:xfrm>
            <a:off x="540000" y="4140000"/>
            <a:ext cx="11113200" cy="252000"/>
          </a:xfrm>
          <a:prstGeom prst="rect">
            <a:avLst/>
          </a:prstGeom>
        </p:spPr>
        <p:txBody>
          <a:bodyPr/>
          <a:lstStyle/>
          <a:p>
            <a:pPr algn="ctr"/>
            <a:r>
              <a:rPr lang="en-US" sz="1300">
                <a:solidFill>
                  <a:srgbClr val="A8D5F0"/>
                </a:solidFill>
              </a:rPr>
              <a:t>Left: Main risk dashboard with patient-level risk scores   ·   Right: Deviation alert detail view</a:t>
            </a:r>
          </a:p>
        </p:txBody>
      </p:sp>
      <p:sp>
        <p:nvSpPr>
          <p:cNvPr id="100120" name="DemoLink"/>
          <p:cNvSpPr txBox="1"/>
          <p:nvPr/>
        </p:nvSpPr>
        <p:spPr>
          <a:xfrm>
            <a:off x="540000" y="4499999"/>
            <a:ext cx="11113200" cy="686597"/>
          </a:xfrm>
          <a:prstGeom prst="rect">
            <a:avLst/>
          </a:prstGeom>
        </p:spPr>
        <p:txBody>
          <a:bodyPr/>
          <a:lstStyle/>
          <a:p>
            <a:pPr algn="ctr"/>
            <a:r>
              <a:rPr lang="en-US" sz="1500" b="1" dirty="0">
                <a:solidFill>
                  <a:srgbClr val="2E86AB"/>
                </a:solidFill>
              </a:rPr>
              <a:t>🔗    ·   GitHub:  [https://github.com/Shinchan-Noh/bob-ai-hackathon-Hackhive.git]</a:t>
            </a:r>
          </a:p>
          <a:p>
            <a:pPr algn="ctr"/>
            <a:r>
              <a:rPr lang="en-US" sz="1500" b="1" dirty="0">
                <a:solidFill>
                  <a:srgbClr val="2E86AB"/>
                </a:solidFill>
              </a:rPr>
              <a:t>Demo Video ["C:\Users\HP\Videos\'IBM.mp4“]</a:t>
            </a:r>
          </a:p>
          <a:p>
            <a:pPr algn="ctr"/>
            <a:endParaRPr lang="en-US" sz="1500" b="1" dirty="0">
              <a:solidFill>
                <a:srgbClr val="2E86AB"/>
              </a:solidFill>
            </a:endParaRPr>
          </a:p>
          <a:p>
            <a:pPr algn="ctr"/>
            <a:endParaRPr lang="en-US" sz="1500" b="1" dirty="0">
              <a:solidFill>
                <a:srgbClr val="2E86AB"/>
              </a:solidFill>
            </a:endParaRPr>
          </a:p>
        </p:txBody>
      </p:sp>
      <p:sp>
        <p:nvSpPr>
          <p:cNvPr id="100121" name="DemoNote"/>
          <p:cNvSpPr txBox="1"/>
          <p:nvPr/>
        </p:nvSpPr>
        <p:spPr>
          <a:xfrm>
            <a:off x="540000" y="5505404"/>
            <a:ext cx="11113200" cy="360000"/>
          </a:xfrm>
          <a:prstGeom prst="rect">
            <a:avLst/>
          </a:prstGeom>
        </p:spPr>
        <p:txBody>
          <a:bodyPr/>
          <a:lstStyle/>
          <a:p>
            <a:pPr algn="ctr"/>
            <a:r>
              <a:rPr lang="en-US" sz="1200" dirty="0">
                <a:solidFill>
                  <a:srgbClr val="556677"/>
                </a:solidFill>
              </a:rPr>
              <a:t>Replace the placeholder boxes above with actual screenshots before the presentation.</a:t>
            </a:r>
          </a:p>
        </p:txBody>
      </p:sp>
      <p:sp>
        <p:nvSpPr>
          <p:cNvPr id="100122" name="BottomAccent"/>
          <p:cNvSpPr txBox="1"/>
          <p:nvPr/>
        </p:nvSpPr>
        <p:spPr>
          <a:xfrm>
            <a:off x="0" y="6660000"/>
            <a:ext cx="12193200" cy="180000"/>
          </a:xfrm>
          <a:prstGeom prst="rect">
            <a:avLst/>
          </a:prstGeom>
          <a:solidFill>
            <a:srgbClr val="2E86AB"/>
          </a:solidFill>
        </p:spPr>
        <p:txBody>
          <a:bodyPr/>
          <a:lstStyle/>
          <a:p>
            <a:endParaRPr lang="en-US" sz="1000">
              <a:solidFill>
                <a:srgbClr val="2E86AB"/>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123" name="Header"/>
          <p:cNvSpPr txBox="1"/>
          <p:nvPr/>
        </p:nvSpPr>
        <p:spPr>
          <a:xfrm>
            <a:off x="0" y="0"/>
            <a:ext cx="12193200" cy="504000"/>
          </a:xfrm>
          <a:prstGeom prst="rect">
            <a:avLst/>
          </a:prstGeom>
          <a:solidFill>
            <a:srgbClr val="1A3A5C"/>
          </a:solidFill>
        </p:spPr>
        <p:txBody>
          <a:bodyPr/>
          <a:lstStyle/>
          <a:p>
            <a:endParaRPr lang="en-US" sz="1000">
              <a:solidFill>
                <a:srgbClr val="1A3A5C"/>
              </a:solidFill>
            </a:endParaRPr>
          </a:p>
        </p:txBody>
      </p:sp>
      <p:sp>
        <p:nvSpPr>
          <p:cNvPr id="100124" name="SlideNum"/>
          <p:cNvSpPr txBox="1"/>
          <p:nvPr/>
        </p:nvSpPr>
        <p:spPr>
          <a:xfrm>
            <a:off x="10800000" y="108000"/>
            <a:ext cx="900000" cy="252000"/>
          </a:xfrm>
          <a:prstGeom prst="rect">
            <a:avLst/>
          </a:prstGeom>
        </p:spPr>
        <p:txBody>
          <a:bodyPr/>
          <a:lstStyle/>
          <a:p>
            <a:pPr algn="r"/>
            <a:r>
              <a:rPr lang="en-US" sz="1100">
                <a:solidFill>
                  <a:srgbClr val="7FBAD6"/>
                </a:solidFill>
              </a:rPr>
              <a:t>08</a:t>
            </a:r>
          </a:p>
        </p:txBody>
      </p:sp>
      <p:sp>
        <p:nvSpPr>
          <p:cNvPr id="100125" name="SlideTitle"/>
          <p:cNvSpPr txBox="1"/>
          <p:nvPr/>
        </p:nvSpPr>
        <p:spPr>
          <a:xfrm>
            <a:off x="540000" y="72000"/>
            <a:ext cx="10080000" cy="360000"/>
          </a:xfrm>
          <a:prstGeom prst="rect">
            <a:avLst/>
          </a:prstGeom>
        </p:spPr>
        <p:txBody>
          <a:bodyPr/>
          <a:lstStyle/>
          <a:p>
            <a:r>
              <a:rPr lang="en-US" sz="2600" b="1">
                <a:solidFill>
                  <a:srgbClr val="FFFFFF"/>
                </a:solidFill>
              </a:rPr>
              <a:t>Expected Impact &amp; Future Scope</a:t>
            </a:r>
          </a:p>
        </p:txBody>
      </p:sp>
      <p:sp>
        <p:nvSpPr>
          <p:cNvPr id="100126" name="ImpactHeader"/>
          <p:cNvSpPr txBox="1"/>
          <p:nvPr/>
        </p:nvSpPr>
        <p:spPr>
          <a:xfrm>
            <a:off x="540000" y="720000"/>
            <a:ext cx="5400000" cy="288000"/>
          </a:xfrm>
          <a:prstGeom prst="rect">
            <a:avLst/>
          </a:prstGeom>
        </p:spPr>
        <p:txBody>
          <a:bodyPr/>
          <a:lstStyle/>
          <a:p>
            <a:r>
              <a:rPr lang="en-US" sz="2000" b="1">
                <a:solidFill>
                  <a:srgbClr val="1A3A5C"/>
                </a:solidFill>
              </a:rPr>
              <a:t>Expected Impact</a:t>
            </a:r>
          </a:p>
        </p:txBody>
      </p:sp>
      <p:sp>
        <p:nvSpPr>
          <p:cNvPr id="100127" name="Impact1"/>
          <p:cNvSpPr txBox="1"/>
          <p:nvPr/>
        </p:nvSpPr>
        <p:spPr>
          <a:xfrm>
            <a:off x="540000" y="1080000"/>
            <a:ext cx="5400000" cy="252000"/>
          </a:xfrm>
          <a:prstGeom prst="rect">
            <a:avLst/>
          </a:prstGeom>
        </p:spPr>
        <p:txBody>
          <a:bodyPr/>
          <a:lstStyle/>
          <a:p>
            <a:r>
              <a:rPr lang="en-US" sz="1500">
                <a:solidFill>
                  <a:srgbClr val="333333"/>
                </a:solidFill>
              </a:rPr>
              <a:t>✅  Earlier detection of safety issues — protecting patient wellbeing</a:t>
            </a:r>
          </a:p>
        </p:txBody>
      </p:sp>
      <p:sp>
        <p:nvSpPr>
          <p:cNvPr id="100128" name="Impact2"/>
          <p:cNvSpPr txBox="1"/>
          <p:nvPr/>
        </p:nvSpPr>
        <p:spPr>
          <a:xfrm>
            <a:off x="540000" y="1404000"/>
            <a:ext cx="5400000" cy="252000"/>
          </a:xfrm>
          <a:prstGeom prst="rect">
            <a:avLst/>
          </a:prstGeom>
        </p:spPr>
        <p:txBody>
          <a:bodyPr/>
          <a:lstStyle/>
          <a:p>
            <a:r>
              <a:rPr lang="en-US" sz="1500">
                <a:solidFill>
                  <a:srgbClr val="333333"/>
                </a:solidFill>
              </a:rPr>
              <a:t>✅  Reduced manual workload for trial coordinators</a:t>
            </a:r>
          </a:p>
        </p:txBody>
      </p:sp>
      <p:sp>
        <p:nvSpPr>
          <p:cNvPr id="100129" name="Impact3"/>
          <p:cNvSpPr txBox="1"/>
          <p:nvPr/>
        </p:nvSpPr>
        <p:spPr>
          <a:xfrm>
            <a:off x="540000" y="1728000"/>
            <a:ext cx="5400000" cy="252000"/>
          </a:xfrm>
          <a:prstGeom prst="rect">
            <a:avLst/>
          </a:prstGeom>
        </p:spPr>
        <p:txBody>
          <a:bodyPr/>
          <a:lstStyle/>
          <a:p>
            <a:r>
              <a:rPr lang="en-US" sz="1500">
                <a:solidFill>
                  <a:srgbClr val="333333"/>
                </a:solidFill>
              </a:rPr>
              <a:t>✅  Faster identification of protocol deviations — fewer trial delays</a:t>
            </a:r>
          </a:p>
        </p:txBody>
      </p:sp>
      <p:sp>
        <p:nvSpPr>
          <p:cNvPr id="100130" name="Impact4"/>
          <p:cNvSpPr txBox="1"/>
          <p:nvPr/>
        </p:nvSpPr>
        <p:spPr>
          <a:xfrm>
            <a:off x="540000" y="2052000"/>
            <a:ext cx="5400000" cy="252000"/>
          </a:xfrm>
          <a:prstGeom prst="rect">
            <a:avLst/>
          </a:prstGeom>
        </p:spPr>
        <p:txBody>
          <a:bodyPr/>
          <a:lstStyle/>
          <a:p>
            <a:r>
              <a:rPr lang="en-US" sz="1500">
                <a:solidFill>
                  <a:srgbClr val="333333"/>
                </a:solidFill>
              </a:rPr>
              <a:t>✅  Improved regulatory compliance and audit readiness</a:t>
            </a:r>
          </a:p>
        </p:txBody>
      </p:sp>
      <p:sp>
        <p:nvSpPr>
          <p:cNvPr id="100131" name="Impact5"/>
          <p:cNvSpPr txBox="1"/>
          <p:nvPr/>
        </p:nvSpPr>
        <p:spPr>
          <a:xfrm>
            <a:off x="540000" y="2376000"/>
            <a:ext cx="5400000" cy="252000"/>
          </a:xfrm>
          <a:prstGeom prst="rect">
            <a:avLst/>
          </a:prstGeom>
        </p:spPr>
        <p:txBody>
          <a:bodyPr/>
          <a:lstStyle/>
          <a:p>
            <a:r>
              <a:rPr lang="en-US" sz="1500">
                <a:solidFill>
                  <a:srgbClr val="333333"/>
                </a:solidFill>
              </a:rPr>
              <a:t>✅  Scalable to multi-site and multi-country trials</a:t>
            </a:r>
          </a:p>
        </p:txBody>
      </p:sp>
      <p:sp>
        <p:nvSpPr>
          <p:cNvPr id="100132" name="Divider"/>
          <p:cNvSpPr txBox="1"/>
          <p:nvPr/>
        </p:nvSpPr>
        <p:spPr>
          <a:xfrm>
            <a:off x="6120000" y="648000"/>
            <a:ext cx="18000" cy="3600000"/>
          </a:xfrm>
          <a:prstGeom prst="rect">
            <a:avLst/>
          </a:prstGeom>
          <a:solidFill>
            <a:srgbClr val="CCCCCC"/>
          </a:solidFill>
        </p:spPr>
        <p:txBody>
          <a:bodyPr/>
          <a:lstStyle/>
          <a:p>
            <a:endParaRPr lang="en-US" sz="1000">
              <a:solidFill>
                <a:srgbClr val="CCCCCC"/>
              </a:solidFill>
            </a:endParaRPr>
          </a:p>
        </p:txBody>
      </p:sp>
      <p:sp>
        <p:nvSpPr>
          <p:cNvPr id="100133" name="FutureHeader"/>
          <p:cNvSpPr txBox="1"/>
          <p:nvPr/>
        </p:nvSpPr>
        <p:spPr>
          <a:xfrm>
            <a:off x="6480000" y="720000"/>
            <a:ext cx="5040000" cy="288000"/>
          </a:xfrm>
          <a:prstGeom prst="rect">
            <a:avLst/>
          </a:prstGeom>
        </p:spPr>
        <p:txBody>
          <a:bodyPr/>
          <a:lstStyle/>
          <a:p>
            <a:r>
              <a:rPr lang="en-US" sz="2000" b="1">
                <a:solidFill>
                  <a:srgbClr val="1A3A5C"/>
                </a:solidFill>
              </a:rPr>
              <a:t>Future Scope</a:t>
            </a:r>
          </a:p>
        </p:txBody>
      </p:sp>
      <p:sp>
        <p:nvSpPr>
          <p:cNvPr id="100134" name="Future1"/>
          <p:cNvSpPr txBox="1"/>
          <p:nvPr/>
        </p:nvSpPr>
        <p:spPr>
          <a:xfrm>
            <a:off x="6480000" y="1080000"/>
            <a:ext cx="5220000" cy="252000"/>
          </a:xfrm>
          <a:prstGeom prst="rect">
            <a:avLst/>
          </a:prstGeom>
        </p:spPr>
        <p:txBody>
          <a:bodyPr/>
          <a:lstStyle/>
          <a:p>
            <a:r>
              <a:rPr lang="en-US" sz="1500">
                <a:solidFill>
                  <a:srgbClr val="333333"/>
                </a:solidFill>
              </a:rPr>
              <a:t>🔮  AI/ML-powered predictive risk modelling</a:t>
            </a:r>
          </a:p>
        </p:txBody>
      </p:sp>
      <p:sp>
        <p:nvSpPr>
          <p:cNvPr id="100135" name="Future2"/>
          <p:cNvSpPr txBox="1"/>
          <p:nvPr/>
        </p:nvSpPr>
        <p:spPr>
          <a:xfrm>
            <a:off x="6480000" y="1404000"/>
            <a:ext cx="5220000" cy="252000"/>
          </a:xfrm>
          <a:prstGeom prst="rect">
            <a:avLst/>
          </a:prstGeom>
        </p:spPr>
        <p:txBody>
          <a:bodyPr/>
          <a:lstStyle/>
          <a:p>
            <a:r>
              <a:rPr lang="en-US" sz="1500">
                <a:solidFill>
                  <a:srgbClr val="333333"/>
                </a:solidFill>
              </a:rPr>
              <a:t>🔮  Integration with CTMS and EDC systems (Veeva, Medidata)</a:t>
            </a:r>
          </a:p>
        </p:txBody>
      </p:sp>
      <p:sp>
        <p:nvSpPr>
          <p:cNvPr id="100136" name="Future3"/>
          <p:cNvSpPr txBox="1"/>
          <p:nvPr/>
        </p:nvSpPr>
        <p:spPr>
          <a:xfrm>
            <a:off x="6480000" y="1728000"/>
            <a:ext cx="5220000" cy="252000"/>
          </a:xfrm>
          <a:prstGeom prst="rect">
            <a:avLst/>
          </a:prstGeom>
        </p:spPr>
        <p:txBody>
          <a:bodyPr/>
          <a:lstStyle/>
          <a:p>
            <a:r>
              <a:rPr lang="en-US" sz="1500">
                <a:solidFill>
                  <a:srgbClr val="333333"/>
                </a:solidFill>
              </a:rPr>
              <a:t>🔮  Natural language protocol ingestion via NLP</a:t>
            </a:r>
          </a:p>
        </p:txBody>
      </p:sp>
      <p:sp>
        <p:nvSpPr>
          <p:cNvPr id="100137" name="Future4"/>
          <p:cNvSpPr txBox="1"/>
          <p:nvPr/>
        </p:nvSpPr>
        <p:spPr>
          <a:xfrm>
            <a:off x="6480000" y="2052000"/>
            <a:ext cx="5220000" cy="252000"/>
          </a:xfrm>
          <a:prstGeom prst="rect">
            <a:avLst/>
          </a:prstGeom>
        </p:spPr>
        <p:txBody>
          <a:bodyPr/>
          <a:lstStyle/>
          <a:p>
            <a:r>
              <a:rPr lang="en-US" sz="1500">
                <a:solidFill>
                  <a:srgbClr val="333333"/>
                </a:solidFill>
              </a:rPr>
              <a:t>🔮  Mobile app for on-the-go coordinator alerts</a:t>
            </a:r>
          </a:p>
        </p:txBody>
      </p:sp>
      <p:sp>
        <p:nvSpPr>
          <p:cNvPr id="100138" name="Future5"/>
          <p:cNvSpPr txBox="1"/>
          <p:nvPr/>
        </p:nvSpPr>
        <p:spPr>
          <a:xfrm>
            <a:off x="6480000" y="2376000"/>
            <a:ext cx="5220000" cy="252000"/>
          </a:xfrm>
          <a:prstGeom prst="rect">
            <a:avLst/>
          </a:prstGeom>
        </p:spPr>
        <p:txBody>
          <a:bodyPr/>
          <a:lstStyle/>
          <a:p>
            <a:r>
              <a:rPr lang="en-US" sz="1500">
                <a:solidFill>
                  <a:srgbClr val="333333"/>
                </a:solidFill>
              </a:rPr>
              <a:t>🔮  Role-based access control for sponsors and CROs</a:t>
            </a:r>
          </a:p>
        </p:txBody>
      </p:sp>
      <p:sp>
        <p:nvSpPr>
          <p:cNvPr id="100139" name="ClosingBox"/>
          <p:cNvSpPr txBox="1"/>
          <p:nvPr/>
        </p:nvSpPr>
        <p:spPr>
          <a:xfrm>
            <a:off x="540000" y="3060000"/>
            <a:ext cx="11113200" cy="1260000"/>
          </a:xfrm>
          <a:prstGeom prst="rect">
            <a:avLst/>
          </a:prstGeom>
          <a:solidFill>
            <a:srgbClr val="1A3A5C"/>
          </a:solidFill>
        </p:spPr>
        <p:txBody>
          <a:bodyPr/>
          <a:lstStyle/>
          <a:p>
            <a:endParaRPr lang="en-US" sz="1400">
              <a:solidFill>
                <a:srgbClr val="1A3A5C"/>
              </a:solidFill>
            </a:endParaRPr>
          </a:p>
        </p:txBody>
      </p:sp>
      <p:sp>
        <p:nvSpPr>
          <p:cNvPr id="100140" name="ClosingText"/>
          <p:cNvSpPr txBox="1"/>
          <p:nvPr/>
        </p:nvSpPr>
        <p:spPr>
          <a:xfrm>
            <a:off x="720000" y="3204000"/>
            <a:ext cx="10800000" cy="720000"/>
          </a:xfrm>
          <a:prstGeom prst="rect">
            <a:avLst/>
          </a:prstGeom>
        </p:spPr>
        <p:txBody>
          <a:bodyPr/>
          <a:lstStyle/>
          <a:p>
            <a:pPr algn="ctr"/>
            <a:r>
              <a:rPr lang="en-US" sz="1900" b="1">
                <a:solidFill>
                  <a:srgbClr val="FFFFFF"/>
                </a:solidFill>
              </a:rPr>
              <a:t>Clinical Trial Risk Monitor is designed to be the safety co-pilot</a:t>
            </a:r>
          </a:p>
          <a:p>
            <a:pPr algn="ctr"/>
            <a:r>
              <a:rPr lang="en-US" sz="1900" b="1">
                <a:solidFill>
                  <a:srgbClr val="FFFFFF"/>
                </a:solidFill>
              </a:rPr>
              <a:t>for every research team — keeping trials safe, compliant, and on time.</a:t>
            </a:r>
          </a:p>
        </p:txBody>
      </p:sp>
      <p:sp>
        <p:nvSpPr>
          <p:cNvPr id="100141" name="ThankYou"/>
          <p:cNvSpPr txBox="1"/>
          <p:nvPr/>
        </p:nvSpPr>
        <p:spPr>
          <a:xfrm>
            <a:off x="540000" y="4500000"/>
            <a:ext cx="11113200" cy="324000"/>
          </a:xfrm>
          <a:prstGeom prst="rect">
            <a:avLst/>
          </a:prstGeom>
        </p:spPr>
        <p:txBody>
          <a:bodyPr/>
          <a:lstStyle/>
          <a:p>
            <a:pPr algn="ctr"/>
            <a:r>
              <a:rPr lang="en-US" sz="2000" b="1">
                <a:solidFill>
                  <a:srgbClr val="1A3A5C"/>
                </a:solidFill>
              </a:rPr>
              <a:t>Thank You  ·  Questions Welcome</a:t>
            </a:r>
          </a:p>
        </p:txBody>
      </p:sp>
      <p:sp>
        <p:nvSpPr>
          <p:cNvPr id="100142" name="ContactRepeat"/>
          <p:cNvSpPr txBox="1"/>
          <p:nvPr/>
        </p:nvSpPr>
        <p:spPr>
          <a:xfrm>
            <a:off x="540000" y="4896000"/>
            <a:ext cx="11113200" cy="216000"/>
          </a:xfrm>
          <a:prstGeom prst="rect">
            <a:avLst/>
          </a:prstGeom>
        </p:spPr>
        <p:txBody>
          <a:bodyPr/>
          <a:lstStyle/>
          <a:p>
            <a:pPr algn="ctr"/>
            <a:r>
              <a:rPr lang="en-US" sz="1400">
                <a:solidFill>
                  <a:srgbClr val="2E86AB"/>
                </a:solidFill>
              </a:rPr>
              <a:t>[contact@example.com]   ·   [GitHub / Demo Link]</a:t>
            </a:r>
          </a:p>
        </p:txBody>
      </p:sp>
      <p:sp>
        <p:nvSpPr>
          <p:cNvPr id="100143" name="Footer"/>
          <p:cNvSpPr txBox="1"/>
          <p:nvPr/>
        </p:nvSpPr>
        <p:spPr>
          <a:xfrm>
            <a:off x="0" y="6660000"/>
            <a:ext cx="12193200" cy="180000"/>
          </a:xfrm>
          <a:prstGeom prst="rect">
            <a:avLst/>
          </a:prstGeom>
          <a:solidFill>
            <a:srgbClr val="1A3A5C"/>
          </a:solidFill>
        </p:spPr>
        <p:txBody>
          <a:bodyPr/>
          <a:lstStyle/>
          <a:p>
            <a:endParaRPr lang="en-US" sz="1000">
              <a:solidFill>
                <a:srgbClr val="1A3A5C"/>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1277</Words>
  <Application>Microsoft Office PowerPoint</Application>
  <PresentationFormat>Widescreen</PresentationFormat>
  <Paragraphs>147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OfficeCLI</dc:creator>
  <cp:lastModifiedBy>26CS131 AASTHA VASAVA</cp:lastModifiedBy>
  <cp:revision>2</cp:revision>
  <dcterms:created xsi:type="dcterms:W3CDTF">2026-09-15T17:23:16Z</dcterms:created>
  <dcterms:modified xsi:type="dcterms:W3CDTF">2026-09-15T17:47:53Z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ceCLI.Version">
    <vt:lpwstr>1.0.144</vt:lpwstr>
  </property>
  <property fmtid="{D5CDD505-2E9C-101B-9397-08002B2CF9AE}" pid="3" name="OfficeCLI.LastModified">
    <vt:lpwstr>2026-09-15T17:23:18Z</vt:lpwstr>
  </property>
</Properties>
</file>